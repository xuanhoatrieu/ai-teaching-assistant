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81" r:id="rId12"/>
    <p:sldId id="266" r:id="rId13"/>
    <p:sldId id="267" r:id="rId14"/>
    <p:sldId id="268" r:id="rId15"/>
    <p:sldId id="270" r:id="rId16"/>
    <p:sldId id="271" r:id="rId17"/>
    <p:sldId id="272" r:id="rId18"/>
    <p:sldId id="273" r:id="rId19"/>
    <p:sldId id="274" r:id="rId20"/>
    <p:sldId id="282" r:id="rId21"/>
    <p:sldId id="283" r:id="rId22"/>
    <p:sldId id="275" r:id="rId23"/>
    <p:sldId id="276" r:id="rId24"/>
    <p:sldId id="277" r:id="rId25"/>
    <p:sldId id="278" r:id="rId26"/>
    <p:sldId id="279" r:id="rId27"/>
    <p:sldId id="280" r:id="rId28"/>
  </p:sldIdLst>
  <p:sldSz cx="12192000" cy="6858000"/>
  <p:notesSz cx="6858000" cy="9144000"/>
  <p:embeddedFontLst>
    <p:embeddedFont>
      <p:font typeface="DM Sans" pitchFamily="2" charset="0"/>
      <p:regular r:id="rId30"/>
      <p:bold r:id="rId31"/>
      <p:italic r:id="rId32"/>
      <p:boldItalic r:id="rId33"/>
    </p:embeddedFont>
    <p:embeddedFont>
      <p:font typeface="DM Sans Medium" pitchFamily="2" charset="0"/>
      <p:regular r:id="rId34"/>
      <p:bold r:id="rId35"/>
      <p:italic r:id="rId36"/>
      <p:boldItalic r:id="rId37"/>
    </p:embeddedFont>
    <p:embeddedFont>
      <p:font typeface="Merriweather" panose="000005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058365-0513-4D1D-80FB-C174D84907BA}">
  <a:tblStyle styleId="{82058365-0513-4D1D-80FB-C174D84907B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38" autoAdjust="0"/>
  </p:normalViewPr>
  <p:slideViewPr>
    <p:cSldViewPr snapToGrid="0">
      <p:cViewPr varScale="1">
        <p:scale>
          <a:sx n="61" d="100"/>
          <a:sy n="61" d="100"/>
        </p:scale>
        <p:origin x="86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Hello class. In today’s lesson, we will explore the foundations of environmental management, focusing on four key dimensions: science, technology, economics, and law. These foundations help us understand not only what environmental problems are, but also why they happen and how they can be managed in a practical and integrated way.</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 us begin with the first foundation: the scientific and philosophical-social foundation of environmental management. Before we can manage any environmental issue, we must first understand the relationship between humans, society, and nature. Environmental management is not only about trees, rivers, or air quality. It is also about the way people live, produce, consume, and organize society. So in this first part, we will start from the basic question: how are human beings connected to nature?</a:t>
            </a:r>
            <a:endParaRPr dirty="0"/>
          </a:p>
        </p:txBody>
      </p:sp>
      <p:sp>
        <p:nvSpPr>
          <p:cNvPr id="90" name="Google Shape;9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section, we focus on four learning objectives: understanding the human–society–nature relationship, explaining the systems perspective, identifying the scientific basis of environmental management, and linking science with real decisions. The warm-up question asks why technology alone cannot solve environmental problems. This question prepares us to see that environmental issues are not only technical; they are also social, behavioral, and institutional.</a:t>
            </a:r>
            <a:endParaRPr dirty="0"/>
          </a:p>
        </p:txBody>
      </p:sp>
      <p:sp>
        <p:nvSpPr>
          <p:cNvPr id="97" name="Google Shape;9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part, we have four main learning objectives. First, we need to understand the relationship between humans, society, and nature. Second, we need to understand why environmental management requires a systems perspective. Third, we need to identify the scientific basis of environmental management. And fourth, we need to connect science with practical environmental decisions.</a:t>
            </a:r>
            <a:br>
              <a:rPr lang="en-US" dirty="0"/>
            </a:br>
            <a:r>
              <a:rPr lang="en-US" dirty="0"/>
              <a:t>Now think about the warm-up question: why can environmental problems not be solved by technology alone? For example, air pollution is not only a technical issue. Even if we have filters and better engines, we still need better transport policy, better urban planning, stronger enforcement, and also changes in human behavior. So from the beginning, we can already see that environmental management is broader than technology alone.</a:t>
            </a:r>
            <a:endParaRPr dirty="0"/>
          </a:p>
        </p:txBody>
      </p:sp>
      <p:sp>
        <p:nvSpPr>
          <p:cNvPr id="117" name="Google Shape;11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From this relationship, we move to the systems perspective. In environmental management, we should never look at one problem in isolation. The environment is a system, and when one part changes, other parts are also affected.</a:t>
            </a:r>
            <a:br>
              <a:rPr lang="en-US" dirty="0"/>
            </a:br>
            <a:r>
              <a:rPr lang="en-US" dirty="0"/>
              <a:t>Let us take the example of rice straw burning. Some people may think this is only a simple farming practice after harvest. But if we look carefully, we see many connected impacts: smoke affects air quality, reduced visibility increases traffic risk, burning releases greenhouse gases, and the loss of biomass also means lost opportunities for reuse. So this is not only a farmer’s issue. It is also a market issue, a policy issue, and a behavioral issue. This is exactly why systems thinking is so important in environmental management.</a:t>
            </a:r>
            <a:endParaRPr dirty="0"/>
          </a:p>
        </p:txBody>
      </p:sp>
      <p:sp>
        <p:nvSpPr>
          <p:cNvPr id="135" name="Google Shape;13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Once we understand that environmental issues are interconnected, the next question is this: what role does science play? Science provides the knowledge base for environmental management. It helps us understand how ecosystems work, how impacts spread, what indicators we should monitor, and what thresholds should not be exceeded.</a:t>
            </a:r>
            <a:br>
              <a:rPr lang="en-US" dirty="0"/>
            </a:br>
            <a:r>
              <a:rPr lang="en-US" dirty="0"/>
              <a:t>Science also gives us evidence for decision-making. Instead of making assumptions, we use data, observation, analysis, and prediction. For example, if we want to manage river pollution, we need scientific knowledge about water quality, pollution sources, ecosystem response, and possible risks to human health. So science is the foundation that makes environmental management more accurate, rational, and effective.</a:t>
            </a:r>
          </a:p>
          <a:p>
            <a:pPr marL="0" lvl="0" indent="0" algn="l" rtl="0">
              <a:spcBef>
                <a:spcPts val="0"/>
              </a:spcBef>
              <a:spcAft>
                <a:spcPts val="0"/>
              </a:spcAft>
              <a:buNone/>
            </a:pPr>
            <a:endParaRPr dirty="0"/>
          </a:p>
        </p:txBody>
      </p:sp>
      <p:sp>
        <p:nvSpPr>
          <p:cNvPr id="156" name="Google Shape;15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 apply what we have just learned. Firstly, you </a:t>
            </a:r>
            <a:r>
              <a:rPr lang="en-US" sz="1100" b="0" i="1" u="none" strike="noStrike" cap="none" dirty="0">
                <a:solidFill>
                  <a:srgbClr val="334155"/>
                </a:solidFill>
                <a:latin typeface="DM Sans"/>
                <a:ea typeface="DM Sans"/>
                <a:cs typeface="DM Sans"/>
                <a:sym typeface="DM Sans"/>
              </a:rPr>
              <a:t>match the problem with the type of scientific knowledge needed. </a:t>
            </a:r>
            <a:r>
              <a:rPr lang="en-US" dirty="0"/>
              <a:t>Different environmental problems require different kinds of scientific knowledge, such as water analysis, air monitoring, ecosystem assessment, or behavior surveys. If we are studying river pollution, we may need water quality analysis. If we are dealing with urban air pollution, we need monitoring data and emission data. If biodiversity is declining, we need ecosystem assessment. If there is plastic waste on campus, we may need both a waste audit and a behavior survey.</a:t>
            </a:r>
            <a:br>
              <a:rPr lang="en-US" dirty="0"/>
            </a:br>
            <a:r>
              <a:rPr lang="en-US" dirty="0"/>
              <a:t>Let us think about the mini case here: a river near a town becomes polluted. What should we do first? We should not jump immediately to conclusions. First, we need evidence. We need to know what pollutants are present, where they may come from, how serious the contamination is, and who has the expertise to collect and analyze the data. This reminds us that environmental decisions must begin with solid scientific understanding.</a:t>
            </a:r>
            <a:endParaRPr dirty="0"/>
          </a:p>
        </p:txBody>
      </p:sp>
      <p:sp>
        <p:nvSpPr>
          <p:cNvPr id="175" name="Google Shape;17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that we have discussed the scientific foundation, let us move to the technological foundation. If science helps us understand environmental problems, technology helps us act on them in practice. Technology gives us tools to measure environmental conditions, monitor changes, treat waste, control pollution, and support planning. So in this second part, we shift from understanding the problem to managing it more directly.</a:t>
            </a:r>
            <a:endParaRPr dirty="0"/>
          </a:p>
        </p:txBody>
      </p:sp>
      <p:sp>
        <p:nvSpPr>
          <p:cNvPr id="201" name="Google Shape;20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section, we will identify the main technological foundations of environmental management. We will distinguish between monitoring technology and treatment technology, and we will also look at tools such as GIS, modeling, environmental impact assessment, and auditing.</a:t>
            </a:r>
            <a:br>
              <a:rPr lang="en-US" dirty="0"/>
            </a:br>
            <a:r>
              <a:rPr lang="en-US" dirty="0"/>
              <a:t>Here, technology has two major roles. The first role is understanding the environment through measurement, observation, and modeling. The second role is controlling environmental impacts through treatment, mitigation, and prevention.</a:t>
            </a:r>
            <a:br>
              <a:rPr lang="en-US" dirty="0"/>
            </a:br>
            <a:r>
              <a:rPr lang="en-US" dirty="0"/>
              <a:t>But again, think about the warm-up question: is better technology always enough? The answer is often no. Technology is very important, but without management, policy, maintenance, and public cooperation, even good technology may not work effectively.</a:t>
            </a:r>
            <a:endParaRPr dirty="0"/>
          </a:p>
        </p:txBody>
      </p:sp>
      <p:sp>
        <p:nvSpPr>
          <p:cNvPr id="208" name="Google Shape;20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 us first look at monitoring and measurement technologies. These include environmental monitoring instruments, sampling and analysis methods, and data collection systems. These tools help us understand the current state of the environment and detect changes over time.. </a:t>
            </a:r>
            <a:endParaRPr dirty="0"/>
          </a:p>
        </p:txBody>
      </p:sp>
      <p:sp>
        <p:nvSpPr>
          <p:cNvPr id="230" name="Google Shape;23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Then we have pollution control technologies. These include solid waste treatment, wastewater treatment, air pollution control, and hazardous waste handling. These are the technologies used to reduce or remove harmful impacts before they spread further.</a:t>
            </a:r>
            <a:br>
              <a:rPr lang="en-US" dirty="0"/>
            </a:br>
            <a:r>
              <a:rPr lang="en-US" dirty="0"/>
              <a:t>The key message here is very clear: we cannot manage what we do not measure. If we do not know the condition of the environment, the sources of pollution, or the scale of the problem, then management becomes weak and uncertain.</a:t>
            </a:r>
            <a:endParaRPr dirty="0"/>
          </a:p>
        </p:txBody>
      </p:sp>
      <p:sp>
        <p:nvSpPr>
          <p:cNvPr id="230" name="Google Shape;23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3983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modern environmental management, technology goes beyond treatment systems. We also use GIS and mapping to analyze spatial data, identify hotspots, and support land-use planning. For example, GIS can help us map illegal dumping sites or identify areas at high environmental risk.</a:t>
            </a:r>
            <a:br>
              <a:rPr lang="en-US" dirty="0"/>
            </a:br>
            <a:r>
              <a:rPr lang="en-US" dirty="0"/>
              <a:t>We also use environmental modeling to predict impacts, compare different scenarios, and reduce uncertainty in planning. In addition, EIA and environmental auditing are important management tools. EIA is used before a project begins, while auditing is used during operation to check compliance and performance. These tools help environmental management become more proactive, systematic, and evidence-based.</a:t>
            </a:r>
            <a:endParaRPr dirty="0"/>
          </a:p>
        </p:txBody>
      </p:sp>
      <p:sp>
        <p:nvSpPr>
          <p:cNvPr id="256" name="Google Shape;25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 us look at a real example. Imagine that a food-processing factory wants to expand its production. At first, expansion may sound like a positive economic decision. But from an environmental management perspective, we need to ask several important questions. If production increases, how much more wastewater will be generated? Can the current treatment system handle that extra load? Does the monitoring system need to be upgraded? And what indicators should be reported to ensure proper environmental control?</a:t>
            </a:r>
            <a:br>
              <a:rPr lang="en-US" dirty="0"/>
            </a:br>
            <a:r>
              <a:rPr lang="en-US" dirty="0"/>
              <a:t>These are practical questions that environmental managers must ask before expansion is approved.</a:t>
            </a:r>
            <a:br>
              <a:rPr lang="en-US" dirty="0"/>
            </a:br>
            <a:r>
              <a:rPr lang="en-US" dirty="0"/>
              <a:t>Now in the group activity, each group chooses one case, such as campus plastic waste, livestock waste, craft village wastewater, or construction dust and noise. For your case, think about two things. First, what technology is needed for monitoring? Second, what technology is needed for control or treatment? And finally, remember to ask one more important question: what is the limitation of technology alone? This is important because environmental management is never only about installing a device or building a treatment system.</a:t>
            </a:r>
            <a:endParaRPr dirty="0"/>
          </a:p>
        </p:txBody>
      </p:sp>
      <p:sp>
        <p:nvSpPr>
          <p:cNvPr id="275" name="Google Shape;27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 us look at some possible answers. For campus plastic waste, a suitable combination could include a waste audit, sorting bins, and a recycling link. For livestock waste, we may think of biogas systems, wastewater treatment, and odor control. For craft village wastewater, pre-treatment, a shared treatment system, and regular sampling may be appropriate. For construction dust and noise, barriers and monitoring devices can help.</a:t>
            </a:r>
            <a:br>
              <a:rPr lang="en-US" dirty="0"/>
            </a:br>
            <a:r>
              <a:rPr lang="en-US" dirty="0"/>
              <a:t>However, we must also understand the limits of technology. Technology may require high capital cost and operating cost. Access to modern solutions may not be equal. Some places lack maintenance capacity. In other cases, enforcement is weak. Most importantly, if human behavior does not change, technology may fail in the long term. So technology is necessary, but it is not sufficient by itself.</a:t>
            </a:r>
            <a:endParaRPr dirty="0"/>
          </a:p>
        </p:txBody>
      </p:sp>
      <p:sp>
        <p:nvSpPr>
          <p:cNvPr id="301" name="Google Shape;30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this last part of the lesson, we focus on the economic and legal foundations of environmental management. Environmental problems continue not only because of scientific uncertainty or technological limits, but also because people and organizations respond to incentives and rules. So now we shift our attention from knowledge and tools to governance, responsibility, and regulation.</a:t>
            </a:r>
            <a:endParaRPr dirty="0"/>
          </a:p>
        </p:txBody>
      </p:sp>
      <p:sp>
        <p:nvSpPr>
          <p:cNvPr id="341" name="Google Shape;34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 us start with economics. Why do firms often pollute more when there are no rules or fees? The reason is that producers usually respond to costs and incentives. If polluting is cheap, and cleaner production is expensive, many firms will choose the cheaper option.</a:t>
            </a:r>
            <a:br>
              <a:rPr lang="en-US" dirty="0"/>
            </a:br>
            <a:r>
              <a:rPr lang="en-US" dirty="0"/>
              <a:t>This leads us to the concept of externalities. A factory may gain profit, but nearby residents may bear the health cost. Society may pay for environmental cleanup, healthcare, and lost productivity. In that situation, pollution cost is not fully reflected in the market price. This is why the market alone may fail to protect the environment, and why government intervention becomes necessary.</a:t>
            </a:r>
            <a:endParaRPr dirty="0"/>
          </a:p>
        </p:txBody>
      </p:sp>
      <p:sp>
        <p:nvSpPr>
          <p:cNvPr id="348" name="Google Shape;34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address this problem, governments use economic instruments. These include pollution taxes, fees and charges, subsidies for cleaner production, deposit–refund systems, liability systems, and environmental funds.</a:t>
            </a:r>
            <a:br>
              <a:rPr lang="en-US" dirty="0"/>
            </a:br>
            <a:r>
              <a:rPr lang="en-US" dirty="0"/>
              <a:t>Why are these instruments important? Because they help internalize externalities. In simple words, they make polluters face more of the real environmental cost of their actions. At the same time, they can reward cleaner behavior and encourage more sustainable production and consumption patterns. So economics gives environmental management a way to influence behavior through incentives, not only through commands.</a:t>
            </a:r>
            <a:endParaRPr dirty="0"/>
          </a:p>
        </p:txBody>
      </p:sp>
      <p:sp>
        <p:nvSpPr>
          <p:cNvPr id="371" name="Google Shape;37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 us apply this to real cases. Each group can choose one case: plastic bottles on campus, wastewater from a factory, rice straw burning, or illegal dumping in a tourist area.</a:t>
            </a:r>
            <a:br>
              <a:rPr lang="en-US" dirty="0"/>
            </a:br>
            <a:r>
              <a:rPr lang="en-US" dirty="0"/>
              <a:t>For your case, think about three questions. Which economic instrument is most suitable? Why is it suitable from the perspective of incentives? And what weaknesses might it have, such as problems of enforcement, cost, or loopholes?</a:t>
            </a:r>
            <a:br>
              <a:rPr lang="en-US" dirty="0"/>
            </a:br>
            <a:r>
              <a:rPr lang="en-US" dirty="0"/>
              <a:t>This activity is useful because it shows that economic tools are not one-size-fits-all. The best instrument depends on the nature of the problem, the actors involved, and the management context.</a:t>
            </a:r>
            <a:endParaRPr dirty="0"/>
          </a:p>
        </p:txBody>
      </p:sp>
      <p:sp>
        <p:nvSpPr>
          <p:cNvPr id="392" name="Google Shape;39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 us turn to law. Legal tools are essential because they create binding rules. They define what is allowed and what is prohibited. They set standards, assign duties, and establish sanctions when violations occur. This slide also reminds us that both international law and domestic law matter. </a:t>
            </a:r>
            <a:endParaRPr dirty="0"/>
          </a:p>
        </p:txBody>
      </p:sp>
      <p:sp>
        <p:nvSpPr>
          <p:cNvPr id="416" name="Google Shape;41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the international level, treaties, conventions, and other legal instruments help address shared environmental issues. </a:t>
            </a:r>
            <a:endParaRPr dirty="0"/>
          </a:p>
        </p:txBody>
      </p:sp>
      <p:sp>
        <p:nvSpPr>
          <p:cNvPr id="416" name="Google Shape;41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6343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At the national level, Vietnam has an important legal framework, including the Law on Environmental Protection 2020, Decree No. 08/2022/ND-CP, and other sectoral laws related to water, biodiversity, forestry, minerals, and the marine environment. So law gives environmental management a formal and enforceable framework.</a:t>
            </a:r>
          </a:p>
          <a:p>
            <a:pPr marL="0" lvl="0" indent="0" algn="l" rtl="0">
              <a:spcBef>
                <a:spcPts val="0"/>
              </a:spcBef>
              <a:spcAft>
                <a:spcPts val="0"/>
              </a:spcAft>
              <a:buNone/>
            </a:pPr>
            <a:endParaRPr dirty="0"/>
          </a:p>
        </p:txBody>
      </p:sp>
      <p:sp>
        <p:nvSpPr>
          <p:cNvPr id="416" name="Google Shape;41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7275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this point, we can compare legal tools and economic tools. Legal tools are strong because they are mandatory. They set clear boundaries and can be enforced by state authority. But they may also be rigid, slow to adapt, and costly to enforce continuously.</a:t>
            </a:r>
            <a:br>
              <a:rPr lang="en-US" dirty="0"/>
            </a:br>
            <a:r>
              <a:rPr lang="en-US" dirty="0"/>
              <a:t>Economic tools, on the other hand, are more flexible. They work through incentives and can encourage continuous improvement. But they can also be difficult to design accurately, and sometimes they face resistance from political or business interests.</a:t>
            </a:r>
            <a:br>
              <a:rPr lang="en-US" dirty="0"/>
            </a:br>
            <a:r>
              <a:rPr lang="en-US" dirty="0"/>
              <a:t>So which is better? In practice, neither is enough alone. The real strength of environmental management comes from combining them appropriately.</a:t>
            </a:r>
            <a:endParaRPr dirty="0"/>
          </a:p>
        </p:txBody>
      </p:sp>
      <p:sp>
        <p:nvSpPr>
          <p:cNvPr id="445" name="Google Shape;44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slide brings us to the most practical conclusion of the lesson: the best environmental management strategy usually combines multiple tools. Legal tools provide rules and standards. Economic tools shape incentives. Technical tools support monitoring and control. Supportive tools strengthen implementation.</a:t>
            </a:r>
            <a:br>
              <a:rPr lang="en-US" dirty="0"/>
            </a:br>
            <a:r>
              <a:rPr lang="en-US" dirty="0"/>
              <a:t>In the final group challenge, you are asked to choose one main environmental problem and then identify one legal tool, one economic tool, and one technological support tool. This reflects real environmental management practice, because in reality, we rarely solve environmental problems with only one type of tool.</a:t>
            </a:r>
            <a:endParaRPr dirty="0"/>
          </a:p>
        </p:txBody>
      </p:sp>
      <p:sp>
        <p:nvSpPr>
          <p:cNvPr id="460" name="Google Shape;46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we have some examples of integrated solutions. For factory wastewater, legal tools such as permits and strict standards can be combined with discharge fees or fines, and supported by treatment systems and monitoring. For rice straw burning, local no-burn regulations can be combined with subsidies for straw reuse and supported by composting or biochar solutions. For campus plastic waste, campus regulations can work together with deposit-return systems and sorting stations.</a:t>
            </a:r>
            <a:br>
              <a:rPr lang="en-US" dirty="0"/>
            </a:br>
            <a:r>
              <a:rPr lang="en-US" dirty="0"/>
              <a:t>These examples show that effective environmental management is about integration. Each foundation supports the others, and together they create a more complete solution.</a:t>
            </a:r>
            <a:endParaRPr dirty="0"/>
          </a:p>
        </p:txBody>
      </p:sp>
      <p:sp>
        <p:nvSpPr>
          <p:cNvPr id="488" name="Google Shape;48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let us summarize the whole lesson. Science gives us evidence, thresholds, and understanding of ecosystem processes. Technology helps us measure, monitor, and directly control environmental impacts. Economics changes incentives and helps internalize environmental costs. Law creates binding obligations, standards, and accountability.</a:t>
            </a:r>
            <a:br>
              <a:rPr lang="en-US" dirty="0"/>
            </a:br>
            <a:r>
              <a:rPr lang="en-US" dirty="0"/>
              <a:t>The most important message of today’s lecture is that effective environmental management requires all four foundations. If we rely on only one, our response will be incomplete.</a:t>
            </a:r>
            <a:endParaRPr dirty="0"/>
          </a:p>
        </p:txBody>
      </p:sp>
      <p:sp>
        <p:nvSpPr>
          <p:cNvPr id="508" name="Google Shape;50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de22a5b9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g3de22a5b98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finish, let me return to the final question: why can environmental management not rely on only one type of foundation? The answer is because environmental problems are complex. They involve natural systems, human behavior, social institutions, economic incentives, and legal responsibility.</a:t>
            </a:r>
            <a:br>
              <a:rPr lang="en-US" dirty="0"/>
            </a:br>
            <a:r>
              <a:rPr lang="en-US" dirty="0"/>
              <a:t>So if we want environmental management to be effective, we must combine scientific understanding, technological capacity, economic instruments, and legal frameworks. Only then can we move toward more sustainable and practical solutions. </a:t>
            </a:r>
            <a:r>
              <a:rPr lang="en-US"/>
              <a:t>Thank you, everyone.</a:t>
            </a:r>
            <a:endParaRPr dirty="0"/>
          </a:p>
        </p:txBody>
      </p:sp>
      <p:sp>
        <p:nvSpPr>
          <p:cNvPr id="538" name="Google Shape;53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sp>
        <p:nvSpPr>
          <p:cNvPr id="85" name="Google Shape;85;p13"/>
          <p:cNvSpPr txBox="1"/>
          <p:nvPr/>
        </p:nvSpPr>
        <p:spPr>
          <a:xfrm>
            <a:off x="1595437" y="992112"/>
            <a:ext cx="9001125"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b="1" i="0" u="none" strike="noStrike" cap="none" dirty="0">
                <a:solidFill>
                  <a:srgbClr val="10B981"/>
                </a:solidFill>
                <a:latin typeface="DM Sans"/>
                <a:ea typeface="DM Sans"/>
                <a:cs typeface="DM Sans"/>
                <a:sym typeface="DM Sans"/>
              </a:rPr>
              <a:t>ENVIRONMENTAL MANAGEMENT</a:t>
            </a:r>
            <a:endParaRPr sz="2000" dirty="0"/>
          </a:p>
        </p:txBody>
      </p:sp>
      <p:sp>
        <p:nvSpPr>
          <p:cNvPr id="86" name="Google Shape;86;p13"/>
          <p:cNvSpPr txBox="1"/>
          <p:nvPr/>
        </p:nvSpPr>
        <p:spPr>
          <a:xfrm>
            <a:off x="1595437" y="2045196"/>
            <a:ext cx="9001125" cy="2102941"/>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800" b="1" i="0" u="none" strike="noStrike" cap="none">
                <a:solidFill>
                  <a:srgbClr val="064E3B"/>
                </a:solidFill>
                <a:latin typeface="Merriweather"/>
                <a:ea typeface="Merriweather"/>
                <a:cs typeface="Merriweather"/>
                <a:sym typeface="Merriweather"/>
              </a:rPr>
              <a:t>Scientific, Technological, Economic, and Legal Foundations</a:t>
            </a:r>
            <a:endParaRPr/>
          </a:p>
        </p:txBody>
      </p:sp>
      <p:sp>
        <p:nvSpPr>
          <p:cNvPr id="87" name="Google Shape;87;p13"/>
          <p:cNvSpPr txBox="1"/>
          <p:nvPr/>
        </p:nvSpPr>
        <p:spPr>
          <a:xfrm>
            <a:off x="1809749" y="4863655"/>
            <a:ext cx="8572500" cy="59093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2400" b="1" i="0" u="none" strike="noStrike" cap="none" dirty="0">
                <a:solidFill>
                  <a:srgbClr val="475569"/>
                </a:solidFill>
                <a:latin typeface="DM Sans Medium"/>
                <a:ea typeface="DM Sans Medium"/>
                <a:cs typeface="DM Sans Medium"/>
                <a:sym typeface="DM Sans Medium"/>
              </a:rPr>
              <a:t>Tran Thanh Thuong</a:t>
            </a:r>
            <a:endParaRPr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txBox="1"/>
          <p:nvPr/>
        </p:nvSpPr>
        <p:spPr>
          <a:xfrm>
            <a:off x="295200" y="2133600"/>
            <a:ext cx="11601600" cy="1295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50" b="1" i="0" u="none" strike="noStrike" cap="none" dirty="0">
                <a:solidFill>
                  <a:srgbClr val="064E3B"/>
                </a:solidFill>
                <a:latin typeface="Merriweather"/>
                <a:ea typeface="Merriweather"/>
                <a:cs typeface="Merriweather"/>
                <a:sym typeface="Merriweather"/>
              </a:rPr>
              <a:t>Scientific and Philosophical-Social Foundations of EM</a:t>
            </a:r>
            <a:endParaRPr dirty="0"/>
          </a:p>
        </p:txBody>
      </p:sp>
      <p:sp>
        <p:nvSpPr>
          <p:cNvPr id="94" name="Google Shape;94;p14"/>
          <p:cNvSpPr txBox="1"/>
          <p:nvPr/>
        </p:nvSpPr>
        <p:spPr>
          <a:xfrm>
            <a:off x="2286000" y="4040665"/>
            <a:ext cx="7620000" cy="1181862"/>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2400" b="0" i="0" u="none" strike="noStrike" cap="none" dirty="0">
                <a:solidFill>
                  <a:srgbClr val="047857"/>
                </a:solidFill>
                <a:latin typeface="DM Sans"/>
                <a:ea typeface="DM Sans"/>
                <a:cs typeface="DM Sans"/>
                <a:sym typeface="DM Sans"/>
              </a:rPr>
              <a:t>Understanding the intersection of human activity and natural systems.</a:t>
            </a: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0" name="Google Shape;100;p15" descr="image.png"/>
          <p:cNvPicPr preferRelativeResize="0"/>
          <p:nvPr/>
        </p:nvPicPr>
        <p:blipFill rotWithShape="1">
          <a:blip r:embed="rId4">
            <a:alphaModFix/>
          </a:blip>
          <a:srcRect/>
          <a:stretch/>
        </p:blipFill>
        <p:spPr>
          <a:xfrm>
            <a:off x="1187958" y="859536"/>
            <a:ext cx="8257794" cy="3831336"/>
          </a:xfrm>
          <a:prstGeom prst="rect">
            <a:avLst/>
          </a:prstGeom>
          <a:noFill/>
          <a:ln>
            <a:noFill/>
          </a:ln>
        </p:spPr>
      </p:pic>
      <p:sp>
        <p:nvSpPr>
          <p:cNvPr id="102" name="Google Shape;102;p15"/>
          <p:cNvSpPr txBox="1"/>
          <p:nvPr/>
        </p:nvSpPr>
        <p:spPr>
          <a:xfrm>
            <a:off x="1449895" y="1047078"/>
            <a:ext cx="7661731"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Warm-up Question</a:t>
            </a:r>
            <a:endParaRPr dirty="0"/>
          </a:p>
        </p:txBody>
      </p:sp>
      <p:sp>
        <p:nvSpPr>
          <p:cNvPr id="103" name="Google Shape;103;p15"/>
          <p:cNvSpPr txBox="1"/>
          <p:nvPr/>
        </p:nvSpPr>
        <p:spPr>
          <a:xfrm>
            <a:off x="1504759" y="1512308"/>
            <a:ext cx="7296887" cy="98488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1" u="none" strike="noStrike" cap="none" dirty="0">
                <a:solidFill>
                  <a:srgbClr val="334155"/>
                </a:solidFill>
                <a:latin typeface="DM Sans"/>
                <a:ea typeface="DM Sans"/>
                <a:cs typeface="DM Sans"/>
                <a:sym typeface="DM Sans"/>
              </a:rPr>
              <a:t>Why can't environmental problems be solved by technology alone?</a:t>
            </a:r>
            <a:endParaRPr sz="2400" b="1" dirty="0"/>
          </a:p>
        </p:txBody>
      </p:sp>
      <p:sp>
        <p:nvSpPr>
          <p:cNvPr id="104" name="Google Shape;104;p15"/>
          <p:cNvSpPr txBox="1"/>
          <p:nvPr/>
        </p:nvSpPr>
        <p:spPr>
          <a:xfrm>
            <a:off x="1616582" y="2518523"/>
            <a:ext cx="7296887" cy="1477328"/>
          </a:xfrm>
          <a:prstGeom prst="rect">
            <a:avLst/>
          </a:prstGeom>
          <a:noFill/>
          <a:ln>
            <a:noFill/>
          </a:ln>
        </p:spPr>
        <p:txBody>
          <a:bodyPr spcFirstLastPara="1" wrap="square" lIns="152400" tIns="0" rIns="0" bIns="0" anchor="t" anchorCtr="0">
            <a:spAutoFit/>
          </a:bodyPr>
          <a:lstStyle/>
          <a:p>
            <a:pPr marL="0" marR="0" lvl="0" indent="0" algn="l" rtl="0">
              <a:lnSpc>
                <a:spcPct val="160000"/>
              </a:lnSpc>
              <a:spcBef>
                <a:spcPts val="0"/>
              </a:spcBef>
              <a:spcAft>
                <a:spcPts val="0"/>
              </a:spcAft>
              <a:buNone/>
            </a:pPr>
            <a:r>
              <a:rPr lang="en-US" sz="2000" b="0" i="0" u="none" strike="noStrike" cap="none" dirty="0">
                <a:solidFill>
                  <a:srgbClr val="64748B"/>
                </a:solidFill>
                <a:latin typeface="DM Sans"/>
                <a:ea typeface="DM Sans"/>
                <a:cs typeface="DM Sans"/>
                <a:sym typeface="DM Sans"/>
              </a:rPr>
              <a:t>Example: Air pollution isn't just about filters; it involves consumer behavior, transport policy, urban planning, and enforcement.</a:t>
            </a:r>
            <a:endParaRPr sz="2400" dirty="0"/>
          </a:p>
        </p:txBody>
      </p:sp>
      <p:pic>
        <p:nvPicPr>
          <p:cNvPr id="113" name="Google Shape;113;p15" descr="image.png"/>
          <p:cNvPicPr preferRelativeResize="0"/>
          <p:nvPr/>
        </p:nvPicPr>
        <p:blipFill rotWithShape="1">
          <a:blip r:embed="rId5">
            <a:alphaModFix/>
          </a:blip>
          <a:srcRect/>
          <a:stretch/>
        </p:blipFill>
        <p:spPr>
          <a:xfrm>
            <a:off x="6705600" y="4080569"/>
            <a:ext cx="152400" cy="152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pic>
        <p:nvPicPr>
          <p:cNvPr id="119" name="Google Shape;119;p16" descr="image.png"/>
          <p:cNvPicPr preferRelativeResize="0"/>
          <p:nvPr/>
        </p:nvPicPr>
        <p:blipFill rotWithShape="1">
          <a:blip r:embed="rId3">
            <a:alphaModFix/>
          </a:blip>
          <a:srcRect/>
          <a:stretch/>
        </p:blipFill>
        <p:spPr>
          <a:xfrm>
            <a:off x="-19050" y="0"/>
            <a:ext cx="12192000" cy="6858000"/>
          </a:xfrm>
          <a:prstGeom prst="rect">
            <a:avLst/>
          </a:prstGeom>
          <a:noFill/>
          <a:ln>
            <a:noFill/>
          </a:ln>
        </p:spPr>
      </p:pic>
      <p:pic>
        <p:nvPicPr>
          <p:cNvPr id="121" name="Google Shape;121;p16" descr="image.png"/>
          <p:cNvPicPr preferRelativeResize="0"/>
          <p:nvPr/>
        </p:nvPicPr>
        <p:blipFill rotWithShape="1">
          <a:blip r:embed="rId4">
            <a:alphaModFix/>
          </a:blip>
          <a:srcRect/>
          <a:stretch/>
        </p:blipFill>
        <p:spPr>
          <a:xfrm>
            <a:off x="6381750" y="1716583"/>
            <a:ext cx="5238750" cy="3810000"/>
          </a:xfrm>
          <a:prstGeom prst="rect">
            <a:avLst/>
          </a:prstGeom>
          <a:noFill/>
          <a:ln>
            <a:noFill/>
          </a:ln>
        </p:spPr>
      </p:pic>
      <p:pic>
        <p:nvPicPr>
          <p:cNvPr id="120" name="Google Shape;120;p16" descr="image.png"/>
          <p:cNvPicPr preferRelativeResize="0"/>
          <p:nvPr/>
        </p:nvPicPr>
        <p:blipFill rotWithShape="1">
          <a:blip r:embed="rId5">
            <a:alphaModFix/>
          </a:blip>
          <a:srcRect/>
          <a:stretch/>
        </p:blipFill>
        <p:spPr>
          <a:xfrm>
            <a:off x="561974" y="4793397"/>
            <a:ext cx="6030849" cy="1826859"/>
          </a:xfrm>
          <a:prstGeom prst="rect">
            <a:avLst/>
          </a:prstGeom>
          <a:noFill/>
          <a:ln>
            <a:noFill/>
          </a:ln>
        </p:spPr>
      </p:pic>
      <p:sp>
        <p:nvSpPr>
          <p:cNvPr id="122" name="Google Shape;122;p16"/>
          <p:cNvSpPr txBox="1"/>
          <p:nvPr/>
        </p:nvSpPr>
        <p:spPr>
          <a:xfrm>
            <a:off x="571500" y="1394537"/>
            <a:ext cx="683514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Human – Society – Nature Interdependence</a:t>
            </a:r>
            <a:endParaRPr dirty="0"/>
          </a:p>
        </p:txBody>
      </p:sp>
      <p:sp>
        <p:nvSpPr>
          <p:cNvPr id="124" name="Google Shape;124;p16"/>
          <p:cNvSpPr txBox="1"/>
          <p:nvPr/>
        </p:nvSpPr>
        <p:spPr>
          <a:xfrm>
            <a:off x="528066" y="1947381"/>
            <a:ext cx="5734811" cy="615553"/>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1" i="0" u="none" strike="noStrike" cap="none" dirty="0">
                <a:solidFill>
                  <a:srgbClr val="334155"/>
                </a:solidFill>
                <a:latin typeface="DM Sans"/>
                <a:ea typeface="DM Sans"/>
                <a:cs typeface="DM Sans"/>
                <a:sym typeface="DM Sans"/>
              </a:rPr>
              <a:t>Material unity of the world:</a:t>
            </a:r>
            <a:r>
              <a:rPr lang="en-US" sz="2000" b="0" i="0" u="none" strike="noStrike" cap="none" dirty="0">
                <a:solidFill>
                  <a:srgbClr val="334155"/>
                </a:solidFill>
                <a:latin typeface="DM Sans"/>
                <a:ea typeface="DM Sans"/>
                <a:cs typeface="DM Sans"/>
                <a:sym typeface="DM Sans"/>
              </a:rPr>
              <a:t> Nature and society are intrinsically connected.</a:t>
            </a:r>
            <a:endParaRPr sz="2400" dirty="0"/>
          </a:p>
        </p:txBody>
      </p:sp>
      <p:sp>
        <p:nvSpPr>
          <p:cNvPr id="126" name="Google Shape;126;p16"/>
          <p:cNvSpPr txBox="1"/>
          <p:nvPr/>
        </p:nvSpPr>
        <p:spPr>
          <a:xfrm>
            <a:off x="509397" y="2665905"/>
            <a:ext cx="5734811" cy="923330"/>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1" i="0" u="none" strike="noStrike" cap="none" dirty="0">
                <a:solidFill>
                  <a:srgbClr val="334155"/>
                </a:solidFill>
                <a:latin typeface="DM Sans"/>
                <a:ea typeface="DM Sans"/>
                <a:cs typeface="DM Sans"/>
                <a:sym typeface="DM Sans"/>
              </a:rPr>
              <a:t>Social dependency:</a:t>
            </a:r>
            <a:r>
              <a:rPr lang="en-US" sz="2000" b="0" i="0" u="none" strike="noStrike" cap="none" dirty="0">
                <a:solidFill>
                  <a:srgbClr val="334155"/>
                </a:solidFill>
                <a:latin typeface="DM Sans"/>
                <a:ea typeface="DM Sans"/>
                <a:cs typeface="DM Sans"/>
                <a:sym typeface="DM Sans"/>
              </a:rPr>
              <a:t> The human–nature relationship depends entirely on stages of social development.</a:t>
            </a:r>
            <a:endParaRPr sz="2400" dirty="0"/>
          </a:p>
        </p:txBody>
      </p:sp>
      <p:sp>
        <p:nvSpPr>
          <p:cNvPr id="128" name="Google Shape;128;p16"/>
          <p:cNvSpPr txBox="1"/>
          <p:nvPr/>
        </p:nvSpPr>
        <p:spPr>
          <a:xfrm>
            <a:off x="509396" y="3675501"/>
            <a:ext cx="5734811" cy="923330"/>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1" i="0" u="none" strike="noStrike" cap="none" dirty="0">
                <a:solidFill>
                  <a:srgbClr val="334155"/>
                </a:solidFill>
                <a:latin typeface="DM Sans"/>
                <a:ea typeface="DM Sans"/>
                <a:cs typeface="DM Sans"/>
                <a:sym typeface="DM Sans"/>
              </a:rPr>
              <a:t>Conscious regulation:</a:t>
            </a:r>
            <a:r>
              <a:rPr lang="en-US" sz="2000" b="0" i="0" u="none" strike="noStrike" cap="none" dirty="0">
                <a:solidFill>
                  <a:srgbClr val="334155"/>
                </a:solidFill>
                <a:latin typeface="DM Sans"/>
                <a:ea typeface="DM Sans"/>
                <a:cs typeface="DM Sans"/>
                <a:sym typeface="DM Sans"/>
              </a:rPr>
              <a:t> Humans must consciously regulate their interaction with nature to ensure sustainability.</a:t>
            </a:r>
            <a:endParaRPr sz="2400" dirty="0"/>
          </a:p>
        </p:txBody>
      </p:sp>
      <p:sp>
        <p:nvSpPr>
          <p:cNvPr id="129" name="Google Shape;129;p16"/>
          <p:cNvSpPr txBox="1"/>
          <p:nvPr/>
        </p:nvSpPr>
        <p:spPr>
          <a:xfrm>
            <a:off x="661416" y="4828026"/>
            <a:ext cx="303276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a:solidFill>
                  <a:srgbClr val="047857"/>
                </a:solidFill>
                <a:latin typeface="DM Sans"/>
                <a:ea typeface="DM Sans"/>
                <a:cs typeface="DM Sans"/>
                <a:sym typeface="DM Sans"/>
              </a:rPr>
              <a:t>Why this matters:</a:t>
            </a:r>
            <a:endParaRPr sz="2400" dirty="0"/>
          </a:p>
        </p:txBody>
      </p:sp>
      <p:sp>
        <p:nvSpPr>
          <p:cNvPr id="130" name="Google Shape;130;p16"/>
          <p:cNvSpPr txBox="1"/>
          <p:nvPr/>
        </p:nvSpPr>
        <p:spPr>
          <a:xfrm>
            <a:off x="725693" y="5335402"/>
            <a:ext cx="5703409" cy="1107996"/>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800" b="0" i="0" u="none" strike="noStrike" cap="none" dirty="0">
                <a:solidFill>
                  <a:srgbClr val="334155"/>
                </a:solidFill>
                <a:latin typeface="DM Sans"/>
                <a:ea typeface="DM Sans"/>
                <a:cs typeface="DM Sans"/>
                <a:sym typeface="DM Sans"/>
              </a:rPr>
              <a:t>Environmental problems are not just "natural"; they are created by production, consumption, institutions, and lifestyles. EM must address both environment and society.</a:t>
            </a:r>
            <a:endParaRPr sz="2000" dirty="0"/>
          </a:p>
        </p:txBody>
      </p:sp>
      <p:pic>
        <p:nvPicPr>
          <p:cNvPr id="131" name="Google Shape;131;p16" descr="image.png"/>
          <p:cNvPicPr preferRelativeResize="0"/>
          <p:nvPr/>
        </p:nvPicPr>
        <p:blipFill rotWithShape="1">
          <a:blip r:embed="rId6">
            <a:alphaModFix/>
          </a:blip>
          <a:srcRect/>
          <a:stretch/>
        </p:blipFill>
        <p:spPr>
          <a:xfrm>
            <a:off x="6763511" y="1445651"/>
            <a:ext cx="5238750" cy="3810000"/>
          </a:xfrm>
          <a:prstGeom prst="rect">
            <a:avLst/>
          </a:prstGeom>
          <a:noFill/>
          <a:ln>
            <a:noFill/>
          </a:ln>
        </p:spPr>
      </p:pic>
      <p:sp>
        <p:nvSpPr>
          <p:cNvPr id="132" name="Google Shape;132;p16"/>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Philosophical-Social Foundation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p:cNvGrpSpPr/>
        <p:nvPr/>
      </p:nvGrpSpPr>
      <p:grpSpPr>
        <a:xfrm>
          <a:off x="0" y="0"/>
          <a:ext cx="0" cy="0"/>
          <a:chOff x="0" y="0"/>
          <a:chExt cx="0" cy="0"/>
        </a:xfrm>
      </p:grpSpPr>
      <p:pic>
        <p:nvPicPr>
          <p:cNvPr id="137" name="Google Shape;13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8" name="Google Shape;138;p17" descr="image.png"/>
          <p:cNvPicPr preferRelativeResize="0"/>
          <p:nvPr/>
        </p:nvPicPr>
        <p:blipFill rotWithShape="1">
          <a:blip r:embed="rId4">
            <a:alphaModFix/>
          </a:blip>
          <a:srcRect/>
          <a:stretch/>
        </p:blipFill>
        <p:spPr>
          <a:xfrm>
            <a:off x="571500" y="1984176"/>
            <a:ext cx="5238750" cy="3765946"/>
          </a:xfrm>
          <a:prstGeom prst="rect">
            <a:avLst/>
          </a:prstGeom>
          <a:noFill/>
          <a:ln>
            <a:noFill/>
          </a:ln>
        </p:spPr>
      </p:pic>
      <p:pic>
        <p:nvPicPr>
          <p:cNvPr id="139" name="Google Shape;139;p17" descr="image.png"/>
          <p:cNvPicPr preferRelativeResize="0"/>
          <p:nvPr/>
        </p:nvPicPr>
        <p:blipFill rotWithShape="1">
          <a:blip r:embed="rId5">
            <a:alphaModFix/>
          </a:blip>
          <a:srcRect/>
          <a:stretch/>
        </p:blipFill>
        <p:spPr>
          <a:xfrm>
            <a:off x="6381750" y="1984176"/>
            <a:ext cx="5238750" cy="3765946"/>
          </a:xfrm>
          <a:prstGeom prst="rect">
            <a:avLst/>
          </a:prstGeom>
          <a:noFill/>
          <a:ln>
            <a:noFill/>
          </a:ln>
        </p:spPr>
      </p:pic>
      <p:pic>
        <p:nvPicPr>
          <p:cNvPr id="140" name="Google Shape;140;p17" descr="image.png"/>
          <p:cNvPicPr preferRelativeResize="0"/>
          <p:nvPr/>
        </p:nvPicPr>
        <p:blipFill rotWithShape="1">
          <a:blip r:embed="rId6">
            <a:alphaModFix/>
          </a:blip>
          <a:srcRect/>
          <a:stretch/>
        </p:blipFill>
        <p:spPr>
          <a:xfrm>
            <a:off x="6772275" y="4291742"/>
            <a:ext cx="4457700" cy="1458379"/>
          </a:xfrm>
          <a:prstGeom prst="rect">
            <a:avLst/>
          </a:prstGeom>
          <a:noFill/>
          <a:ln>
            <a:noFill/>
          </a:ln>
        </p:spPr>
      </p:pic>
      <p:sp>
        <p:nvSpPr>
          <p:cNvPr id="141" name="Google Shape;141;p17"/>
          <p:cNvSpPr txBox="1"/>
          <p:nvPr/>
        </p:nvSpPr>
        <p:spPr>
          <a:xfrm>
            <a:off x="850582" y="2247185"/>
            <a:ext cx="4680585"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047857"/>
                </a:solidFill>
                <a:latin typeface="Merriweather"/>
                <a:ea typeface="Merriweather"/>
                <a:cs typeface="Merriweather"/>
                <a:sym typeface="Merriweather"/>
              </a:rPr>
              <a:t>The Environment as a System</a:t>
            </a:r>
            <a:endParaRPr sz="1600" dirty="0"/>
          </a:p>
        </p:txBody>
      </p:sp>
      <p:sp>
        <p:nvSpPr>
          <p:cNvPr id="142" name="Google Shape;142;p17"/>
          <p:cNvSpPr txBox="1"/>
          <p:nvPr/>
        </p:nvSpPr>
        <p:spPr>
          <a:xfrm>
            <a:off x="731520" y="4698652"/>
            <a:ext cx="507873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1" u="none" strike="noStrike" cap="none" dirty="0">
                <a:solidFill>
                  <a:srgbClr val="047857"/>
                </a:solidFill>
                <a:latin typeface="DM Sans"/>
                <a:ea typeface="DM Sans"/>
                <a:cs typeface="DM Sans"/>
                <a:sym typeface="DM Sans"/>
              </a:rPr>
              <a:t>Key Message: EM begins with understanding relationships, not isolated problems.</a:t>
            </a:r>
            <a:endParaRPr sz="2000" dirty="0"/>
          </a:p>
        </p:txBody>
      </p:sp>
      <p:sp>
        <p:nvSpPr>
          <p:cNvPr id="143" name="Google Shape;143;p17"/>
          <p:cNvSpPr txBox="1"/>
          <p:nvPr/>
        </p:nvSpPr>
        <p:spPr>
          <a:xfrm>
            <a:off x="6492240" y="2196926"/>
            <a:ext cx="5238749"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047857"/>
                </a:solidFill>
                <a:latin typeface="Merriweather"/>
                <a:ea typeface="Merriweather"/>
                <a:cs typeface="Merriweather"/>
                <a:sym typeface="Merriweather"/>
              </a:rPr>
              <a:t>Real Example: Rice Straw Burning</a:t>
            </a:r>
            <a:endParaRPr sz="1600" dirty="0"/>
          </a:p>
        </p:txBody>
      </p:sp>
      <p:sp>
        <p:nvSpPr>
          <p:cNvPr id="144" name="Google Shape;144;p17"/>
          <p:cNvSpPr txBox="1"/>
          <p:nvPr/>
        </p:nvSpPr>
        <p:spPr>
          <a:xfrm>
            <a:off x="6591300" y="2722075"/>
            <a:ext cx="44577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Cause:</a:t>
            </a:r>
            <a:r>
              <a:rPr lang="en-US" sz="1800" b="0" i="0" u="none" strike="noStrike" cap="none" dirty="0">
                <a:solidFill>
                  <a:srgbClr val="334155"/>
                </a:solidFill>
                <a:latin typeface="DM Sans"/>
                <a:ea typeface="DM Sans"/>
                <a:cs typeface="DM Sans"/>
                <a:sym typeface="DM Sans"/>
              </a:rPr>
              <a:t> Open burning habit after harvest + lack of reuse market.</a:t>
            </a:r>
            <a:endParaRPr sz="2000" dirty="0"/>
          </a:p>
        </p:txBody>
      </p:sp>
      <p:sp>
        <p:nvSpPr>
          <p:cNvPr id="145" name="Google Shape;145;p17"/>
          <p:cNvSpPr txBox="1"/>
          <p:nvPr/>
        </p:nvSpPr>
        <p:spPr>
          <a:xfrm>
            <a:off x="6591300" y="3587346"/>
            <a:ext cx="44577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Impacts:</a:t>
            </a:r>
            <a:r>
              <a:rPr lang="en-US" sz="1800" b="0" i="0" u="none" strike="noStrike" cap="none" dirty="0">
                <a:solidFill>
                  <a:srgbClr val="334155"/>
                </a:solidFill>
                <a:latin typeface="DM Sans"/>
                <a:ea typeface="DM Sans"/>
                <a:cs typeface="DM Sans"/>
                <a:sym typeface="DM Sans"/>
              </a:rPr>
              <a:t> Smoke, air pollution, traffic risk, GHG emissions.</a:t>
            </a:r>
            <a:endParaRPr sz="2000" dirty="0"/>
          </a:p>
        </p:txBody>
      </p:sp>
      <p:sp>
        <p:nvSpPr>
          <p:cNvPr id="147" name="Google Shape;147;p17"/>
          <p:cNvSpPr txBox="1"/>
          <p:nvPr/>
        </p:nvSpPr>
        <p:spPr>
          <a:xfrm>
            <a:off x="804672" y="2860476"/>
            <a:ext cx="4928616"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Human activities affect multiple components simultaneously.</a:t>
            </a:r>
            <a:endParaRPr sz="2000" dirty="0"/>
          </a:p>
        </p:txBody>
      </p:sp>
      <p:sp>
        <p:nvSpPr>
          <p:cNvPr id="149" name="Google Shape;149;p17"/>
          <p:cNvSpPr txBox="1"/>
          <p:nvPr/>
        </p:nvSpPr>
        <p:spPr>
          <a:xfrm>
            <a:off x="804672" y="3523357"/>
            <a:ext cx="4928616"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One action can create widespread chain effects across ecosystems.</a:t>
            </a:r>
            <a:endParaRPr sz="2000" dirty="0"/>
          </a:p>
        </p:txBody>
      </p:sp>
      <p:sp>
        <p:nvSpPr>
          <p:cNvPr id="151" name="Google Shape;151;p17"/>
          <p:cNvSpPr txBox="1"/>
          <p:nvPr/>
        </p:nvSpPr>
        <p:spPr>
          <a:xfrm>
            <a:off x="804672" y="4186237"/>
            <a:ext cx="4615053"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Solutions must be integrated, not isolated.</a:t>
            </a:r>
            <a:endParaRPr sz="2000" dirty="0"/>
          </a:p>
        </p:txBody>
      </p:sp>
      <p:sp>
        <p:nvSpPr>
          <p:cNvPr id="152" name="Google Shape;152;p17"/>
          <p:cNvSpPr txBox="1"/>
          <p:nvPr/>
        </p:nvSpPr>
        <p:spPr>
          <a:xfrm>
            <a:off x="6915150" y="4659263"/>
            <a:ext cx="4133850" cy="830997"/>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800" b="1" i="0" u="none" strike="noStrike" cap="none" dirty="0">
                <a:solidFill>
                  <a:srgbClr val="92400E"/>
                </a:solidFill>
                <a:latin typeface="DM Sans"/>
                <a:ea typeface="DM Sans"/>
                <a:cs typeface="DM Sans"/>
                <a:sym typeface="DM Sans"/>
              </a:rPr>
              <a:t>Lesson:</a:t>
            </a:r>
            <a:r>
              <a:rPr lang="en-US" sz="1800" b="0" i="0" u="none" strike="noStrike" cap="none" dirty="0">
                <a:solidFill>
                  <a:srgbClr val="92400E"/>
                </a:solidFill>
                <a:latin typeface="DM Sans"/>
                <a:ea typeface="DM Sans"/>
                <a:cs typeface="DM Sans"/>
                <a:sym typeface="DM Sans"/>
              </a:rPr>
              <a:t> This is not only a "farmer problem," but also a market, policy, and behavioral issue.</a:t>
            </a:r>
            <a:endParaRPr sz="2000" dirty="0"/>
          </a:p>
        </p:txBody>
      </p:sp>
      <p:sp>
        <p:nvSpPr>
          <p:cNvPr id="153" name="Google Shape;153;p17"/>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Systems Perspective in EM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7"/>
        <p:cNvGrpSpPr/>
        <p:nvPr/>
      </p:nvGrpSpPr>
      <p:grpSpPr>
        <a:xfrm>
          <a:off x="0" y="0"/>
          <a:ext cx="0" cy="0"/>
          <a:chOff x="0" y="0"/>
          <a:chExt cx="0" cy="0"/>
        </a:xfrm>
      </p:grpSpPr>
      <p:pic>
        <p:nvPicPr>
          <p:cNvPr id="158" name="Google Shape;15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9" name="Google Shape;159;p18" descr="image.png"/>
          <p:cNvPicPr preferRelativeResize="0"/>
          <p:nvPr/>
        </p:nvPicPr>
        <p:blipFill rotWithShape="1">
          <a:blip r:embed="rId4">
            <a:alphaModFix/>
          </a:blip>
          <a:srcRect/>
          <a:stretch/>
        </p:blipFill>
        <p:spPr>
          <a:xfrm>
            <a:off x="571500" y="2896641"/>
            <a:ext cx="3492549" cy="2836366"/>
          </a:xfrm>
          <a:prstGeom prst="rect">
            <a:avLst/>
          </a:prstGeom>
          <a:noFill/>
          <a:ln>
            <a:noFill/>
          </a:ln>
        </p:spPr>
      </p:pic>
      <p:pic>
        <p:nvPicPr>
          <p:cNvPr id="160" name="Google Shape;160;p18" descr="image.png"/>
          <p:cNvPicPr preferRelativeResize="0"/>
          <p:nvPr/>
        </p:nvPicPr>
        <p:blipFill rotWithShape="1">
          <a:blip r:embed="rId5">
            <a:alphaModFix/>
          </a:blip>
          <a:srcRect/>
          <a:stretch/>
        </p:blipFill>
        <p:spPr>
          <a:xfrm>
            <a:off x="4349799" y="2896641"/>
            <a:ext cx="3492549" cy="2836366"/>
          </a:xfrm>
          <a:prstGeom prst="rect">
            <a:avLst/>
          </a:prstGeom>
          <a:noFill/>
          <a:ln>
            <a:noFill/>
          </a:ln>
        </p:spPr>
      </p:pic>
      <p:pic>
        <p:nvPicPr>
          <p:cNvPr id="161" name="Google Shape;161;p18" descr="image.png"/>
          <p:cNvPicPr preferRelativeResize="0"/>
          <p:nvPr/>
        </p:nvPicPr>
        <p:blipFill rotWithShape="1">
          <a:blip r:embed="rId6">
            <a:alphaModFix/>
          </a:blip>
          <a:srcRect/>
          <a:stretch/>
        </p:blipFill>
        <p:spPr>
          <a:xfrm>
            <a:off x="8128099" y="2896641"/>
            <a:ext cx="3492549" cy="2836366"/>
          </a:xfrm>
          <a:prstGeom prst="rect">
            <a:avLst/>
          </a:prstGeom>
          <a:noFill/>
          <a:ln>
            <a:noFill/>
          </a:ln>
        </p:spPr>
      </p:pic>
      <p:sp>
        <p:nvSpPr>
          <p:cNvPr id="162" name="Google Shape;162;p18"/>
          <p:cNvSpPr txBox="1"/>
          <p:nvPr/>
        </p:nvSpPr>
        <p:spPr>
          <a:xfrm>
            <a:off x="571500" y="2001291"/>
            <a:ext cx="11049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Environmental problems are complex and interdisciplinary. EM uses </a:t>
            </a:r>
            <a:r>
              <a:rPr lang="en-US" sz="1500" b="1" i="0" u="none" strike="noStrike" cap="none">
                <a:solidFill>
                  <a:srgbClr val="334155"/>
                </a:solidFill>
                <a:latin typeface="DM Sans"/>
                <a:ea typeface="DM Sans"/>
                <a:cs typeface="DM Sans"/>
                <a:sym typeface="DM Sans"/>
              </a:rPr>
              <a:t>natural science + social science + management science</a:t>
            </a:r>
            <a:r>
              <a:rPr lang="en-US" sz="1500" b="0" i="0" u="none" strike="noStrike" cap="none">
                <a:solidFill>
                  <a:srgbClr val="334155"/>
                </a:solidFill>
                <a:latin typeface="DM Sans"/>
                <a:ea typeface="DM Sans"/>
                <a:cs typeface="DM Sans"/>
                <a:sym typeface="DM Sans"/>
              </a:rPr>
              <a:t>.</a:t>
            </a:r>
            <a:endParaRPr/>
          </a:p>
        </p:txBody>
      </p:sp>
      <p:sp>
        <p:nvSpPr>
          <p:cNvPr id="163" name="Google Shape;163;p18"/>
          <p:cNvSpPr txBox="1"/>
          <p:nvPr/>
        </p:nvSpPr>
        <p:spPr>
          <a:xfrm>
            <a:off x="984503" y="3134614"/>
            <a:ext cx="3047099" cy="685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Ecosystems &amp; Impacts</a:t>
            </a:r>
            <a:endParaRPr dirty="0"/>
          </a:p>
        </p:txBody>
      </p:sp>
      <p:sp>
        <p:nvSpPr>
          <p:cNvPr id="164" name="Google Shape;164;p18"/>
          <p:cNvSpPr txBox="1"/>
          <p:nvPr/>
        </p:nvSpPr>
        <p:spPr>
          <a:xfrm>
            <a:off x="761852" y="4064341"/>
            <a:ext cx="2901999" cy="9848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0" i="0" u="none" strike="noStrike" cap="none" dirty="0">
                <a:solidFill>
                  <a:srgbClr val="334155"/>
                </a:solidFill>
                <a:latin typeface="DM Sans"/>
                <a:ea typeface="DM Sans"/>
                <a:cs typeface="DM Sans"/>
                <a:sym typeface="DM Sans"/>
              </a:rPr>
              <a:t>Providing deep understanding of ecosystem mechanics and assessing direct/indirect impacts.</a:t>
            </a:r>
            <a:endParaRPr sz="1800" dirty="0"/>
          </a:p>
        </p:txBody>
      </p:sp>
      <p:sp>
        <p:nvSpPr>
          <p:cNvPr id="165" name="Google Shape;165;p18"/>
          <p:cNvSpPr txBox="1"/>
          <p:nvPr/>
        </p:nvSpPr>
        <p:spPr>
          <a:xfrm>
            <a:off x="4429650" y="3134614"/>
            <a:ext cx="333270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Indicators &amp; Thresholds</a:t>
            </a:r>
            <a:endParaRPr dirty="0"/>
          </a:p>
        </p:txBody>
      </p:sp>
      <p:sp>
        <p:nvSpPr>
          <p:cNvPr id="166" name="Google Shape;166;p18"/>
          <p:cNvSpPr txBox="1"/>
          <p:nvPr/>
        </p:nvSpPr>
        <p:spPr>
          <a:xfrm>
            <a:off x="4635549" y="3999470"/>
            <a:ext cx="2901999" cy="9848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0" i="0" u="none" strike="noStrike" cap="none" dirty="0">
                <a:solidFill>
                  <a:srgbClr val="334155"/>
                </a:solidFill>
                <a:latin typeface="DM Sans"/>
                <a:ea typeface="DM Sans"/>
                <a:cs typeface="DM Sans"/>
                <a:sym typeface="DM Sans"/>
              </a:rPr>
              <a:t>Establishing environmental indicators, evaluating resources, and defining safety standards and thresholds.</a:t>
            </a:r>
            <a:endParaRPr sz="1800" dirty="0"/>
          </a:p>
        </p:txBody>
      </p:sp>
      <p:sp>
        <p:nvSpPr>
          <p:cNvPr id="167" name="Google Shape;167;p18"/>
          <p:cNvSpPr txBox="1"/>
          <p:nvPr/>
        </p:nvSpPr>
        <p:spPr>
          <a:xfrm>
            <a:off x="8350823" y="3164382"/>
            <a:ext cx="3047099" cy="685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Evidence for Decisions</a:t>
            </a:r>
            <a:endParaRPr dirty="0"/>
          </a:p>
        </p:txBody>
      </p:sp>
      <p:sp>
        <p:nvSpPr>
          <p:cNvPr id="168" name="Google Shape;168;p18"/>
          <p:cNvSpPr txBox="1"/>
          <p:nvPr/>
        </p:nvSpPr>
        <p:spPr>
          <a:xfrm>
            <a:off x="8350823" y="3955833"/>
            <a:ext cx="2901999" cy="98488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0" i="0" u="none" strike="noStrike" cap="none" dirty="0">
                <a:solidFill>
                  <a:srgbClr val="334155"/>
                </a:solidFill>
                <a:latin typeface="DM Sans"/>
                <a:ea typeface="DM Sans"/>
                <a:cs typeface="DM Sans"/>
                <a:sym typeface="DM Sans"/>
              </a:rPr>
              <a:t>Scientific knowledge supports accurate prediction, continuous monitoring, and effective control.</a:t>
            </a:r>
            <a:endParaRPr sz="1800" dirty="0"/>
          </a:p>
        </p:txBody>
      </p:sp>
      <p:pic>
        <p:nvPicPr>
          <p:cNvPr id="169" name="Google Shape;169;p18" descr="image.png"/>
          <p:cNvPicPr preferRelativeResize="0"/>
          <p:nvPr/>
        </p:nvPicPr>
        <p:blipFill rotWithShape="1">
          <a:blip r:embed="rId7">
            <a:alphaModFix/>
          </a:blip>
          <a:srcRect/>
          <a:stretch/>
        </p:blipFill>
        <p:spPr>
          <a:xfrm>
            <a:off x="571352" y="2891053"/>
            <a:ext cx="381000" cy="381000"/>
          </a:xfrm>
          <a:prstGeom prst="rect">
            <a:avLst/>
          </a:prstGeom>
          <a:noFill/>
          <a:ln>
            <a:noFill/>
          </a:ln>
        </p:spPr>
      </p:pic>
      <p:pic>
        <p:nvPicPr>
          <p:cNvPr id="170" name="Google Shape;170;p18" descr="image.png"/>
          <p:cNvPicPr preferRelativeResize="0"/>
          <p:nvPr/>
        </p:nvPicPr>
        <p:blipFill rotWithShape="1">
          <a:blip r:embed="rId8">
            <a:alphaModFix/>
          </a:blip>
          <a:srcRect/>
          <a:stretch/>
        </p:blipFill>
        <p:spPr>
          <a:xfrm>
            <a:off x="4452339" y="3390900"/>
            <a:ext cx="381000" cy="381000"/>
          </a:xfrm>
          <a:prstGeom prst="rect">
            <a:avLst/>
          </a:prstGeom>
          <a:noFill/>
          <a:ln>
            <a:noFill/>
          </a:ln>
        </p:spPr>
      </p:pic>
      <p:pic>
        <p:nvPicPr>
          <p:cNvPr id="171" name="Google Shape;171;p18" descr="image.png"/>
          <p:cNvPicPr preferRelativeResize="0"/>
          <p:nvPr/>
        </p:nvPicPr>
        <p:blipFill rotWithShape="1">
          <a:blip r:embed="rId9">
            <a:alphaModFix/>
          </a:blip>
          <a:srcRect/>
          <a:stretch/>
        </p:blipFill>
        <p:spPr>
          <a:xfrm>
            <a:off x="8137624" y="3429000"/>
            <a:ext cx="285750" cy="381000"/>
          </a:xfrm>
          <a:prstGeom prst="rect">
            <a:avLst/>
          </a:prstGeom>
          <a:noFill/>
          <a:ln>
            <a:noFill/>
          </a:ln>
        </p:spPr>
      </p:pic>
      <p:sp>
        <p:nvSpPr>
          <p:cNvPr id="172" name="Google Shape;172;p18"/>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The Scientific Basis of 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8" name="Google Shape;178;p19" descr="image.png"/>
          <p:cNvPicPr preferRelativeResize="0"/>
          <p:nvPr/>
        </p:nvPicPr>
        <p:blipFill rotWithShape="1">
          <a:blip r:embed="rId4">
            <a:alphaModFix/>
          </a:blip>
          <a:srcRect/>
          <a:stretch/>
        </p:blipFill>
        <p:spPr>
          <a:xfrm>
            <a:off x="6401368" y="2267713"/>
            <a:ext cx="5219132" cy="3265270"/>
          </a:xfrm>
          <a:prstGeom prst="rect">
            <a:avLst/>
          </a:prstGeom>
          <a:noFill/>
          <a:ln>
            <a:noFill/>
          </a:ln>
        </p:spPr>
      </p:pic>
      <p:sp>
        <p:nvSpPr>
          <p:cNvPr id="179" name="Google Shape;179;p19"/>
          <p:cNvSpPr txBox="1"/>
          <p:nvPr/>
        </p:nvSpPr>
        <p:spPr>
          <a:xfrm>
            <a:off x="595313" y="1645501"/>
            <a:ext cx="5500687"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047857"/>
                </a:solidFill>
                <a:latin typeface="Merriweather"/>
                <a:ea typeface="Merriweather"/>
                <a:cs typeface="Merriweather"/>
                <a:sym typeface="Merriweather"/>
              </a:rPr>
              <a:t>Activity: Match the Problem</a:t>
            </a:r>
            <a:endParaRPr sz="1600" dirty="0"/>
          </a:p>
        </p:txBody>
      </p:sp>
      <p:sp>
        <p:nvSpPr>
          <p:cNvPr id="180" name="Google Shape;180;p19"/>
          <p:cNvSpPr txBox="1"/>
          <p:nvPr/>
        </p:nvSpPr>
        <p:spPr>
          <a:xfrm>
            <a:off x="436339" y="2201316"/>
            <a:ext cx="52387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1" u="none" strike="noStrike" cap="none" dirty="0">
                <a:solidFill>
                  <a:srgbClr val="334155"/>
                </a:solidFill>
                <a:latin typeface="DM Sans"/>
                <a:ea typeface="DM Sans"/>
                <a:cs typeface="DM Sans"/>
                <a:sym typeface="DM Sans"/>
              </a:rPr>
              <a:t>Match the problem with the type of scientific knowledge needed:</a:t>
            </a:r>
            <a:endParaRPr sz="2000" dirty="0"/>
          </a:p>
        </p:txBody>
      </p:sp>
      <p:sp>
        <p:nvSpPr>
          <p:cNvPr id="181" name="Google Shape;181;p19"/>
          <p:cNvSpPr txBox="1"/>
          <p:nvPr/>
        </p:nvSpPr>
        <p:spPr>
          <a:xfrm>
            <a:off x="6369843" y="1632734"/>
            <a:ext cx="5500687"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047857"/>
                </a:solidFill>
                <a:latin typeface="Merriweather"/>
                <a:ea typeface="Merriweather"/>
                <a:cs typeface="Merriweather"/>
                <a:sym typeface="Merriweather"/>
              </a:rPr>
              <a:t>Mini Case Discussion</a:t>
            </a:r>
            <a:endParaRPr sz="1600" dirty="0"/>
          </a:p>
        </p:txBody>
      </p:sp>
      <p:sp>
        <p:nvSpPr>
          <p:cNvPr id="183" name="Google Shape;183;p19"/>
          <p:cNvSpPr txBox="1"/>
          <p:nvPr/>
        </p:nvSpPr>
        <p:spPr>
          <a:xfrm>
            <a:off x="464343" y="2991026"/>
            <a:ext cx="5500687" cy="307777"/>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1" i="0" u="none" strike="noStrike" cap="none" dirty="0">
                <a:solidFill>
                  <a:srgbClr val="334155"/>
                </a:solidFill>
                <a:latin typeface="DM Sans"/>
                <a:ea typeface="DM Sans"/>
                <a:cs typeface="DM Sans"/>
                <a:sym typeface="DM Sans"/>
              </a:rPr>
              <a:t>River pollution:</a:t>
            </a:r>
            <a:r>
              <a:rPr lang="en-US" sz="2000" b="0" i="0" u="none" strike="noStrike" cap="none" dirty="0">
                <a:solidFill>
                  <a:srgbClr val="334155"/>
                </a:solidFill>
                <a:latin typeface="DM Sans"/>
                <a:ea typeface="DM Sans"/>
                <a:cs typeface="DM Sans"/>
                <a:sym typeface="DM Sans"/>
              </a:rPr>
              <a:t> Water quality analysis</a:t>
            </a:r>
            <a:endParaRPr sz="2400" dirty="0"/>
          </a:p>
        </p:txBody>
      </p:sp>
      <p:sp>
        <p:nvSpPr>
          <p:cNvPr id="185" name="Google Shape;185;p19"/>
          <p:cNvSpPr txBox="1"/>
          <p:nvPr/>
        </p:nvSpPr>
        <p:spPr>
          <a:xfrm>
            <a:off x="436336" y="3487995"/>
            <a:ext cx="5500687" cy="615553"/>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1" i="0" u="none" strike="noStrike" cap="none" dirty="0">
                <a:solidFill>
                  <a:srgbClr val="334155"/>
                </a:solidFill>
                <a:latin typeface="DM Sans"/>
                <a:ea typeface="DM Sans"/>
                <a:cs typeface="DM Sans"/>
                <a:sym typeface="DM Sans"/>
              </a:rPr>
              <a:t>Urban air pollution:</a:t>
            </a:r>
            <a:r>
              <a:rPr lang="en-US" sz="2000" b="0" i="0" u="none" strike="noStrike" cap="none" dirty="0">
                <a:solidFill>
                  <a:srgbClr val="334155"/>
                </a:solidFill>
                <a:latin typeface="DM Sans"/>
                <a:ea typeface="DM Sans"/>
                <a:cs typeface="DM Sans"/>
                <a:sym typeface="DM Sans"/>
              </a:rPr>
              <a:t> Monitoring + emission data</a:t>
            </a:r>
            <a:endParaRPr sz="2400" dirty="0"/>
          </a:p>
        </p:txBody>
      </p:sp>
      <p:sp>
        <p:nvSpPr>
          <p:cNvPr id="187" name="Google Shape;187;p19"/>
          <p:cNvSpPr txBox="1"/>
          <p:nvPr/>
        </p:nvSpPr>
        <p:spPr>
          <a:xfrm>
            <a:off x="436336" y="4027252"/>
            <a:ext cx="5500687" cy="492443"/>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334155"/>
                </a:solidFill>
                <a:latin typeface="DM Sans"/>
                <a:ea typeface="DM Sans"/>
                <a:cs typeface="DM Sans"/>
                <a:sym typeface="DM Sans"/>
              </a:rPr>
              <a:t>Biodiversity loss:</a:t>
            </a:r>
            <a:r>
              <a:rPr lang="en-US" sz="2000" b="0" i="0" u="none" strike="noStrike" cap="none" dirty="0">
                <a:solidFill>
                  <a:srgbClr val="334155"/>
                </a:solidFill>
                <a:latin typeface="DM Sans"/>
                <a:ea typeface="DM Sans"/>
                <a:cs typeface="DM Sans"/>
                <a:sym typeface="DM Sans"/>
              </a:rPr>
              <a:t> Ecosystem assessment</a:t>
            </a:r>
            <a:endParaRPr sz="2400" dirty="0"/>
          </a:p>
        </p:txBody>
      </p:sp>
      <p:sp>
        <p:nvSpPr>
          <p:cNvPr id="189" name="Google Shape;189;p19"/>
          <p:cNvSpPr txBox="1"/>
          <p:nvPr/>
        </p:nvSpPr>
        <p:spPr>
          <a:xfrm>
            <a:off x="436337" y="4648853"/>
            <a:ext cx="5500687" cy="615553"/>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1" i="0" u="none" strike="noStrike" cap="none" dirty="0">
                <a:solidFill>
                  <a:srgbClr val="334155"/>
                </a:solidFill>
                <a:latin typeface="DM Sans"/>
                <a:ea typeface="DM Sans"/>
                <a:cs typeface="DM Sans"/>
                <a:sym typeface="DM Sans"/>
              </a:rPr>
              <a:t>Plastic waste on campus:</a:t>
            </a:r>
            <a:r>
              <a:rPr lang="en-US" sz="2000" b="0" i="0" u="none" strike="noStrike" cap="none" dirty="0">
                <a:solidFill>
                  <a:srgbClr val="334155"/>
                </a:solidFill>
                <a:latin typeface="DM Sans"/>
                <a:ea typeface="DM Sans"/>
                <a:cs typeface="DM Sans"/>
                <a:sym typeface="DM Sans"/>
              </a:rPr>
              <a:t> Waste audit + behavior survey</a:t>
            </a:r>
            <a:endParaRPr sz="2400" dirty="0"/>
          </a:p>
        </p:txBody>
      </p:sp>
      <p:sp>
        <p:nvSpPr>
          <p:cNvPr id="190" name="Google Shape;190;p19"/>
          <p:cNvSpPr txBox="1"/>
          <p:nvPr/>
        </p:nvSpPr>
        <p:spPr>
          <a:xfrm>
            <a:off x="6629400" y="2421634"/>
            <a:ext cx="474345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334155"/>
                </a:solidFill>
                <a:latin typeface="DM Sans"/>
                <a:ea typeface="DM Sans"/>
                <a:cs typeface="DM Sans"/>
                <a:sym typeface="DM Sans"/>
              </a:rPr>
              <a:t>Case:</a:t>
            </a:r>
            <a:r>
              <a:rPr lang="en-US" sz="1800" b="0" i="0" u="none" strike="noStrike" cap="none" dirty="0">
                <a:solidFill>
                  <a:srgbClr val="334155"/>
                </a:solidFill>
                <a:latin typeface="DM Sans"/>
                <a:ea typeface="DM Sans"/>
                <a:cs typeface="DM Sans"/>
                <a:sym typeface="DM Sans"/>
              </a:rPr>
              <a:t> A river near a town becomes polluted.</a:t>
            </a:r>
            <a:endParaRPr sz="2000" dirty="0"/>
          </a:p>
        </p:txBody>
      </p:sp>
      <p:sp>
        <p:nvSpPr>
          <p:cNvPr id="191" name="Google Shape;191;p19"/>
          <p:cNvSpPr txBox="1"/>
          <p:nvPr/>
        </p:nvSpPr>
        <p:spPr>
          <a:xfrm>
            <a:off x="6639209" y="3032907"/>
            <a:ext cx="47434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Questions to discuss:</a:t>
            </a:r>
            <a:endParaRPr sz="2000" dirty="0"/>
          </a:p>
        </p:txBody>
      </p:sp>
      <p:sp>
        <p:nvSpPr>
          <p:cNvPr id="193" name="Google Shape;193;p19"/>
          <p:cNvSpPr txBox="1"/>
          <p:nvPr/>
        </p:nvSpPr>
        <p:spPr>
          <a:xfrm>
            <a:off x="6629400" y="3438408"/>
            <a:ext cx="450532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i="0" u="none" strike="noStrike" cap="none" dirty="0">
                <a:solidFill>
                  <a:srgbClr val="334155"/>
                </a:solidFill>
                <a:latin typeface="DM Sans"/>
                <a:ea typeface="DM Sans"/>
                <a:cs typeface="DM Sans"/>
                <a:sym typeface="DM Sans"/>
              </a:rPr>
              <a:t>What data do we need first?</a:t>
            </a:r>
            <a:endParaRPr sz="2000" dirty="0"/>
          </a:p>
        </p:txBody>
      </p:sp>
      <p:sp>
        <p:nvSpPr>
          <p:cNvPr id="195" name="Google Shape;195;p19"/>
          <p:cNvSpPr txBox="1"/>
          <p:nvPr/>
        </p:nvSpPr>
        <p:spPr>
          <a:xfrm>
            <a:off x="6663303" y="3891164"/>
            <a:ext cx="450532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i="0" u="none" strike="noStrike" cap="none" dirty="0">
                <a:solidFill>
                  <a:srgbClr val="334155"/>
                </a:solidFill>
                <a:latin typeface="DM Sans"/>
                <a:ea typeface="DM Sans"/>
                <a:cs typeface="DM Sans"/>
                <a:sym typeface="DM Sans"/>
              </a:rPr>
              <a:t>Who should collect it?</a:t>
            </a:r>
            <a:endParaRPr sz="2000" dirty="0"/>
          </a:p>
        </p:txBody>
      </p:sp>
      <p:sp>
        <p:nvSpPr>
          <p:cNvPr id="197" name="Google Shape;197;p19"/>
          <p:cNvSpPr txBox="1"/>
          <p:nvPr/>
        </p:nvSpPr>
        <p:spPr>
          <a:xfrm>
            <a:off x="6629400" y="4408176"/>
            <a:ext cx="450532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i="0" u="none" strike="noStrike" cap="none" dirty="0">
                <a:solidFill>
                  <a:srgbClr val="334155"/>
                </a:solidFill>
                <a:latin typeface="DM Sans"/>
                <a:ea typeface="DM Sans"/>
                <a:cs typeface="DM Sans"/>
                <a:sym typeface="DM Sans"/>
              </a:rPr>
              <a:t>What conclusions cannot be made without solid scientific evidence?</a:t>
            </a:r>
            <a:endParaRPr sz="2000" dirty="0"/>
          </a:p>
        </p:txBody>
      </p:sp>
      <p:sp>
        <p:nvSpPr>
          <p:cNvPr id="198" name="Google Shape;198;p19"/>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Application Activities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pic>
        <p:nvPicPr>
          <p:cNvPr id="203" name="Google Shape;20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4" name="Google Shape;204;p20"/>
          <p:cNvSpPr txBox="1"/>
          <p:nvPr/>
        </p:nvSpPr>
        <p:spPr>
          <a:xfrm>
            <a:off x="295275" y="1932973"/>
            <a:ext cx="11601450" cy="1295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50" b="1" i="0" u="none" strike="noStrike" cap="none" dirty="0">
                <a:solidFill>
                  <a:srgbClr val="064E3B"/>
                </a:solidFill>
                <a:latin typeface="Merriweather"/>
                <a:ea typeface="Merriweather"/>
                <a:cs typeface="Merriweather"/>
                <a:sym typeface="Merriweather"/>
              </a:rPr>
              <a:t>Technological Foundations of Environmental Management</a:t>
            </a:r>
            <a:endParaRPr dirty="0"/>
          </a:p>
        </p:txBody>
      </p:sp>
      <p:sp>
        <p:nvSpPr>
          <p:cNvPr id="205" name="Google Shape;205;p20"/>
          <p:cNvSpPr txBox="1"/>
          <p:nvPr/>
        </p:nvSpPr>
        <p:spPr>
          <a:xfrm>
            <a:off x="2286000" y="3885217"/>
            <a:ext cx="7620000" cy="1181862"/>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2400" b="0" i="0" u="none" strike="noStrike" cap="none" dirty="0">
                <a:solidFill>
                  <a:srgbClr val="047857"/>
                </a:solidFill>
                <a:latin typeface="DM Sans"/>
                <a:ea typeface="DM Sans"/>
                <a:cs typeface="DM Sans"/>
                <a:sym typeface="DM Sans"/>
              </a:rPr>
              <a:t>Monitoring, treatment, GIS, modeling, and technology choice in practice.</a:t>
            </a:r>
            <a:endParaRPr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9"/>
        <p:cNvGrpSpPr/>
        <p:nvPr/>
      </p:nvGrpSpPr>
      <p:grpSpPr>
        <a:xfrm>
          <a:off x="0" y="0"/>
          <a:ext cx="0" cy="0"/>
          <a:chOff x="0" y="0"/>
          <a:chExt cx="0" cy="0"/>
        </a:xfrm>
      </p:grpSpPr>
      <p:pic>
        <p:nvPicPr>
          <p:cNvPr id="210" name="Google Shape;210;p21" descr="image.png"/>
          <p:cNvPicPr preferRelativeResize="0"/>
          <p:nvPr/>
        </p:nvPicPr>
        <p:blipFill rotWithShape="1">
          <a:blip r:embed="rId3">
            <a:alphaModFix/>
          </a:blip>
          <a:srcRect/>
          <a:stretch/>
        </p:blipFill>
        <p:spPr>
          <a:xfrm>
            <a:off x="0" y="-31529"/>
            <a:ext cx="12192000" cy="6858000"/>
          </a:xfrm>
          <a:prstGeom prst="rect">
            <a:avLst/>
          </a:prstGeom>
          <a:noFill/>
          <a:ln>
            <a:noFill/>
          </a:ln>
        </p:spPr>
      </p:pic>
      <p:pic>
        <p:nvPicPr>
          <p:cNvPr id="211" name="Google Shape;211;p21" descr="image.png"/>
          <p:cNvPicPr preferRelativeResize="0"/>
          <p:nvPr/>
        </p:nvPicPr>
        <p:blipFill rotWithShape="1">
          <a:blip r:embed="rId4">
            <a:alphaModFix/>
          </a:blip>
          <a:srcRect/>
          <a:stretch/>
        </p:blipFill>
        <p:spPr>
          <a:xfrm>
            <a:off x="657606" y="834288"/>
            <a:ext cx="9473946" cy="1024830"/>
          </a:xfrm>
          <a:prstGeom prst="rect">
            <a:avLst/>
          </a:prstGeom>
          <a:noFill/>
          <a:ln>
            <a:noFill/>
          </a:ln>
        </p:spPr>
      </p:pic>
      <p:sp>
        <p:nvSpPr>
          <p:cNvPr id="213" name="Google Shape;213;p21"/>
          <p:cNvSpPr txBox="1"/>
          <p:nvPr/>
        </p:nvSpPr>
        <p:spPr>
          <a:xfrm>
            <a:off x="657606" y="2248816"/>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Technology in EM: Two Main Roles</a:t>
            </a:r>
            <a:endParaRPr dirty="0"/>
          </a:p>
        </p:txBody>
      </p:sp>
      <p:sp>
        <p:nvSpPr>
          <p:cNvPr id="222" name="Google Shape;222;p21"/>
          <p:cNvSpPr txBox="1"/>
          <p:nvPr/>
        </p:nvSpPr>
        <p:spPr>
          <a:xfrm>
            <a:off x="933831" y="1072413"/>
            <a:ext cx="8543776"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1" u="none" strike="noStrike" cap="none">
                <a:solidFill>
                  <a:srgbClr val="334155"/>
                </a:solidFill>
                <a:latin typeface="DM Sans"/>
                <a:ea typeface="DM Sans"/>
                <a:cs typeface="DM Sans"/>
                <a:sym typeface="DM Sans"/>
              </a:rPr>
              <a:t>Warm-up Question:</a:t>
            </a:r>
            <a:r>
              <a:rPr lang="en-US" sz="2000" b="0" i="1" u="none" strike="noStrike" cap="none">
                <a:solidFill>
                  <a:srgbClr val="334155"/>
                </a:solidFill>
                <a:latin typeface="DM Sans"/>
                <a:ea typeface="DM Sans"/>
                <a:cs typeface="DM Sans"/>
                <a:sym typeface="DM Sans"/>
              </a:rPr>
              <a:t> Is "better technology" always enough to solve environmental problems?</a:t>
            </a:r>
            <a:endParaRPr sz="2400"/>
          </a:p>
        </p:txBody>
      </p:sp>
      <p:sp>
        <p:nvSpPr>
          <p:cNvPr id="224" name="Google Shape;224;p21"/>
          <p:cNvSpPr txBox="1"/>
          <p:nvPr/>
        </p:nvSpPr>
        <p:spPr>
          <a:xfrm>
            <a:off x="895731" y="2734591"/>
            <a:ext cx="10067925" cy="492443"/>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334155"/>
                </a:solidFill>
                <a:latin typeface="DM Sans"/>
                <a:ea typeface="DM Sans"/>
                <a:cs typeface="DM Sans"/>
                <a:sym typeface="DM Sans"/>
              </a:rPr>
              <a:t>Understanding the environment:</a:t>
            </a:r>
            <a:r>
              <a:rPr lang="en-US" sz="2000" b="0" i="0" u="none" strike="noStrike" cap="none" dirty="0">
                <a:solidFill>
                  <a:srgbClr val="334155"/>
                </a:solidFill>
                <a:latin typeface="DM Sans"/>
                <a:ea typeface="DM Sans"/>
                <a:cs typeface="DM Sans"/>
                <a:sym typeface="DM Sans"/>
              </a:rPr>
              <a:t> Measurement, modeling, and observation.</a:t>
            </a:r>
            <a:endParaRPr sz="2400" dirty="0"/>
          </a:p>
        </p:txBody>
      </p:sp>
      <p:sp>
        <p:nvSpPr>
          <p:cNvPr id="226" name="Google Shape;226;p21"/>
          <p:cNvSpPr txBox="1"/>
          <p:nvPr/>
        </p:nvSpPr>
        <p:spPr>
          <a:xfrm>
            <a:off x="895731" y="3397471"/>
            <a:ext cx="10067925" cy="492443"/>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2000" b="1" i="0" u="none" strike="noStrike" cap="none">
                <a:solidFill>
                  <a:srgbClr val="334155"/>
                </a:solidFill>
                <a:latin typeface="DM Sans"/>
                <a:ea typeface="DM Sans"/>
                <a:cs typeface="DM Sans"/>
                <a:sym typeface="DM Sans"/>
              </a:rPr>
              <a:t>Controlling environmental impacts:</a:t>
            </a:r>
            <a:r>
              <a:rPr lang="en-US" sz="2000" b="0" i="0" u="none" strike="noStrike" cap="none">
                <a:solidFill>
                  <a:srgbClr val="334155"/>
                </a:solidFill>
                <a:latin typeface="DM Sans"/>
                <a:ea typeface="DM Sans"/>
                <a:cs typeface="DM Sans"/>
                <a:sym typeface="DM Sans"/>
              </a:rPr>
              <a:t> Treatment, mitigation, and prevention.</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1"/>
        <p:cNvGrpSpPr/>
        <p:nvPr/>
      </p:nvGrpSpPr>
      <p:grpSpPr>
        <a:xfrm>
          <a:off x="0" y="0"/>
          <a:ext cx="0" cy="0"/>
          <a:chOff x="0" y="0"/>
          <a:chExt cx="0" cy="0"/>
        </a:xfrm>
      </p:grpSpPr>
      <p:pic>
        <p:nvPicPr>
          <p:cNvPr id="232" name="Google Shape;232;p22" descr="image.png"/>
          <p:cNvPicPr preferRelativeResize="0"/>
          <p:nvPr/>
        </p:nvPicPr>
        <p:blipFill rotWithShape="1">
          <a:blip r:embed="rId3">
            <a:alphaModFix/>
          </a:blip>
          <a:srcRect/>
          <a:stretch/>
        </p:blipFill>
        <p:spPr>
          <a:xfrm>
            <a:off x="19050" y="35272"/>
            <a:ext cx="12192000" cy="6858000"/>
          </a:xfrm>
          <a:prstGeom prst="rect">
            <a:avLst/>
          </a:prstGeom>
          <a:noFill/>
          <a:ln>
            <a:noFill/>
          </a:ln>
        </p:spPr>
      </p:pic>
      <p:pic>
        <p:nvPicPr>
          <p:cNvPr id="233" name="Google Shape;233;p22" descr="image.png"/>
          <p:cNvPicPr preferRelativeResize="0"/>
          <p:nvPr/>
        </p:nvPicPr>
        <p:blipFill rotWithShape="1">
          <a:blip r:embed="rId4">
            <a:alphaModFix/>
          </a:blip>
          <a:srcRect/>
          <a:stretch/>
        </p:blipFill>
        <p:spPr>
          <a:xfrm>
            <a:off x="6381750" y="1688901"/>
            <a:ext cx="5238750" cy="3810000"/>
          </a:xfrm>
          <a:prstGeom prst="rect">
            <a:avLst/>
          </a:prstGeom>
          <a:noFill/>
          <a:ln>
            <a:noFill/>
          </a:ln>
        </p:spPr>
      </p:pic>
      <p:sp>
        <p:nvSpPr>
          <p:cNvPr id="234" name="Google Shape;234;p22"/>
          <p:cNvSpPr txBox="1"/>
          <p:nvPr/>
        </p:nvSpPr>
        <p:spPr>
          <a:xfrm>
            <a:off x="571500" y="1688901"/>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Monitoring &amp; Measurement</a:t>
            </a:r>
            <a:endParaRPr/>
          </a:p>
        </p:txBody>
      </p:sp>
      <p:sp>
        <p:nvSpPr>
          <p:cNvPr id="235" name="Google Shape;235;p22"/>
          <p:cNvSpPr txBox="1"/>
          <p:nvPr/>
        </p:nvSpPr>
        <p:spPr>
          <a:xfrm>
            <a:off x="538639" y="4669334"/>
            <a:ext cx="5238750" cy="615553"/>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2000" b="1" i="0" u="none" strike="noStrike" cap="none" dirty="0">
                <a:solidFill>
                  <a:srgbClr val="047857"/>
                </a:solidFill>
                <a:latin typeface="DM Sans"/>
                <a:ea typeface="DM Sans"/>
                <a:cs typeface="DM Sans"/>
                <a:sym typeface="DM Sans"/>
              </a:rPr>
              <a:t>Key message: We cannot manage what we do not measure.</a:t>
            </a:r>
            <a:endParaRPr sz="2400" dirty="0"/>
          </a:p>
        </p:txBody>
      </p:sp>
      <p:sp>
        <p:nvSpPr>
          <p:cNvPr id="238" name="Google Shape;238;p22"/>
          <p:cNvSpPr txBox="1"/>
          <p:nvPr/>
        </p:nvSpPr>
        <p:spPr>
          <a:xfrm>
            <a:off x="480060" y="2315438"/>
            <a:ext cx="5000625" cy="307777"/>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0" i="0" u="none" strike="noStrike" cap="none" dirty="0">
                <a:solidFill>
                  <a:srgbClr val="334155"/>
                </a:solidFill>
                <a:latin typeface="DM Sans"/>
                <a:ea typeface="DM Sans"/>
                <a:cs typeface="DM Sans"/>
                <a:sym typeface="DM Sans"/>
              </a:rPr>
              <a:t>Environmental monitoring instruments</a:t>
            </a:r>
            <a:endParaRPr sz="2400" dirty="0"/>
          </a:p>
        </p:txBody>
      </p:sp>
      <p:sp>
        <p:nvSpPr>
          <p:cNvPr id="240" name="Google Shape;240;p22"/>
          <p:cNvSpPr txBox="1"/>
          <p:nvPr/>
        </p:nvSpPr>
        <p:spPr>
          <a:xfrm>
            <a:off x="480060" y="2940387"/>
            <a:ext cx="5000625" cy="307777"/>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0" i="0" u="none" strike="noStrike" cap="none" dirty="0">
                <a:solidFill>
                  <a:srgbClr val="334155"/>
                </a:solidFill>
                <a:latin typeface="DM Sans"/>
                <a:ea typeface="DM Sans"/>
                <a:cs typeface="DM Sans"/>
                <a:sym typeface="DM Sans"/>
              </a:rPr>
              <a:t>Sampling and analysis</a:t>
            </a:r>
            <a:endParaRPr sz="2400" dirty="0"/>
          </a:p>
        </p:txBody>
      </p:sp>
      <p:sp>
        <p:nvSpPr>
          <p:cNvPr id="242" name="Google Shape;242;p22"/>
          <p:cNvSpPr txBox="1"/>
          <p:nvPr/>
        </p:nvSpPr>
        <p:spPr>
          <a:xfrm>
            <a:off x="480060" y="3481125"/>
            <a:ext cx="5000625" cy="615553"/>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0" i="0" u="none" strike="noStrike" cap="none" dirty="0">
                <a:solidFill>
                  <a:srgbClr val="334155"/>
                </a:solidFill>
                <a:latin typeface="DM Sans"/>
                <a:ea typeface="DM Sans"/>
                <a:cs typeface="DM Sans"/>
                <a:sym typeface="DM Sans"/>
              </a:rPr>
              <a:t>Data collection systems &amp; Information management</a:t>
            </a:r>
            <a:endParaRPr sz="2400" dirty="0"/>
          </a:p>
        </p:txBody>
      </p:sp>
      <p:pic>
        <p:nvPicPr>
          <p:cNvPr id="243" name="Google Shape;243;p22" descr="image.png"/>
          <p:cNvPicPr preferRelativeResize="0"/>
          <p:nvPr/>
        </p:nvPicPr>
        <p:blipFill rotWithShape="1">
          <a:blip r:embed="rId5">
            <a:alphaModFix/>
          </a:blip>
          <a:srcRect/>
          <a:stretch/>
        </p:blipFill>
        <p:spPr>
          <a:xfrm>
            <a:off x="230982" y="4770478"/>
            <a:ext cx="171450" cy="171450"/>
          </a:xfrm>
          <a:prstGeom prst="rect">
            <a:avLst/>
          </a:prstGeom>
          <a:noFill/>
          <a:ln>
            <a:noFill/>
          </a:ln>
        </p:spPr>
      </p:pic>
      <p:pic>
        <p:nvPicPr>
          <p:cNvPr id="252" name="Google Shape;252;p22" descr="image.png"/>
          <p:cNvPicPr preferRelativeResize="0"/>
          <p:nvPr/>
        </p:nvPicPr>
        <p:blipFill rotWithShape="1">
          <a:blip r:embed="rId6">
            <a:alphaModFix/>
          </a:blip>
          <a:srcRect/>
          <a:stretch/>
        </p:blipFill>
        <p:spPr>
          <a:xfrm>
            <a:off x="6381750" y="1688901"/>
            <a:ext cx="5238750" cy="3810000"/>
          </a:xfrm>
          <a:prstGeom prst="rect">
            <a:avLst/>
          </a:prstGeom>
          <a:noFill/>
          <a:ln>
            <a:noFill/>
          </a:ln>
        </p:spPr>
      </p:pic>
      <p:sp>
        <p:nvSpPr>
          <p:cNvPr id="253" name="Google Shape;253;p22"/>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Monitoring and Control Technologies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1"/>
        <p:cNvGrpSpPr/>
        <p:nvPr/>
      </p:nvGrpSpPr>
      <p:grpSpPr>
        <a:xfrm>
          <a:off x="0" y="0"/>
          <a:ext cx="0" cy="0"/>
          <a:chOff x="0" y="0"/>
          <a:chExt cx="0" cy="0"/>
        </a:xfrm>
      </p:grpSpPr>
      <p:pic>
        <p:nvPicPr>
          <p:cNvPr id="232" name="Google Shape;23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3" name="Google Shape;233;p22" descr="image.png"/>
          <p:cNvPicPr preferRelativeResize="0"/>
          <p:nvPr/>
        </p:nvPicPr>
        <p:blipFill rotWithShape="1">
          <a:blip r:embed="rId4">
            <a:alphaModFix/>
          </a:blip>
          <a:srcRect/>
          <a:stretch/>
        </p:blipFill>
        <p:spPr>
          <a:xfrm>
            <a:off x="6381750" y="1688901"/>
            <a:ext cx="5238750" cy="3810000"/>
          </a:xfrm>
          <a:prstGeom prst="rect">
            <a:avLst/>
          </a:prstGeom>
          <a:noFill/>
          <a:ln>
            <a:noFill/>
          </a:ln>
        </p:spPr>
      </p:pic>
      <p:sp>
        <p:nvSpPr>
          <p:cNvPr id="236" name="Google Shape;236;p22"/>
          <p:cNvSpPr txBox="1"/>
          <p:nvPr/>
        </p:nvSpPr>
        <p:spPr>
          <a:xfrm>
            <a:off x="559593" y="1602224"/>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Pollution Control Technologies</a:t>
            </a:r>
            <a:endParaRPr dirty="0"/>
          </a:p>
        </p:txBody>
      </p:sp>
      <p:sp>
        <p:nvSpPr>
          <p:cNvPr id="245" name="Google Shape;245;p22"/>
          <p:cNvSpPr txBox="1"/>
          <p:nvPr/>
        </p:nvSpPr>
        <p:spPr>
          <a:xfrm>
            <a:off x="571499" y="2047699"/>
            <a:ext cx="5000625" cy="492443"/>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2000" b="0" i="0" u="none" strike="noStrike" cap="none" dirty="0">
                <a:solidFill>
                  <a:srgbClr val="334155"/>
                </a:solidFill>
                <a:latin typeface="DM Sans"/>
                <a:ea typeface="DM Sans"/>
                <a:cs typeface="DM Sans"/>
                <a:sym typeface="DM Sans"/>
              </a:rPr>
              <a:t>Solid waste treatment</a:t>
            </a:r>
            <a:endParaRPr sz="2400" dirty="0"/>
          </a:p>
        </p:txBody>
      </p:sp>
      <p:sp>
        <p:nvSpPr>
          <p:cNvPr id="247" name="Google Shape;247;p22"/>
          <p:cNvSpPr txBox="1"/>
          <p:nvPr/>
        </p:nvSpPr>
        <p:spPr>
          <a:xfrm>
            <a:off x="559593" y="2691116"/>
            <a:ext cx="5000625" cy="492443"/>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2000" b="0" i="0" u="none" strike="noStrike" cap="none" dirty="0">
                <a:solidFill>
                  <a:srgbClr val="334155"/>
                </a:solidFill>
                <a:latin typeface="DM Sans"/>
                <a:ea typeface="DM Sans"/>
                <a:cs typeface="DM Sans"/>
                <a:sym typeface="DM Sans"/>
              </a:rPr>
              <a:t>Wastewater treatment</a:t>
            </a:r>
            <a:endParaRPr sz="2400" dirty="0"/>
          </a:p>
        </p:txBody>
      </p:sp>
      <p:sp>
        <p:nvSpPr>
          <p:cNvPr id="249" name="Google Shape;249;p22"/>
          <p:cNvSpPr txBox="1"/>
          <p:nvPr/>
        </p:nvSpPr>
        <p:spPr>
          <a:xfrm>
            <a:off x="559593" y="3261712"/>
            <a:ext cx="5000625" cy="492443"/>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2000" b="0" i="0" u="none" strike="noStrike" cap="none" dirty="0">
                <a:solidFill>
                  <a:srgbClr val="334155"/>
                </a:solidFill>
                <a:latin typeface="DM Sans"/>
                <a:ea typeface="DM Sans"/>
                <a:cs typeface="DM Sans"/>
                <a:sym typeface="DM Sans"/>
              </a:rPr>
              <a:t>Air pollution control</a:t>
            </a:r>
            <a:endParaRPr sz="2400" dirty="0"/>
          </a:p>
        </p:txBody>
      </p:sp>
      <p:sp>
        <p:nvSpPr>
          <p:cNvPr id="251" name="Google Shape;251;p22"/>
          <p:cNvSpPr txBox="1"/>
          <p:nvPr/>
        </p:nvSpPr>
        <p:spPr>
          <a:xfrm>
            <a:off x="571500" y="3785872"/>
            <a:ext cx="5000625" cy="492443"/>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2000" b="0" i="0" u="none" strike="noStrike" cap="none" dirty="0">
                <a:solidFill>
                  <a:srgbClr val="334155"/>
                </a:solidFill>
                <a:latin typeface="DM Sans"/>
                <a:ea typeface="DM Sans"/>
                <a:cs typeface="DM Sans"/>
                <a:sym typeface="DM Sans"/>
              </a:rPr>
              <a:t>Hazardous waste handling</a:t>
            </a:r>
            <a:endParaRPr sz="2400" dirty="0"/>
          </a:p>
        </p:txBody>
      </p:sp>
      <p:pic>
        <p:nvPicPr>
          <p:cNvPr id="252" name="Google Shape;252;p22" descr="image.png"/>
          <p:cNvPicPr preferRelativeResize="0"/>
          <p:nvPr/>
        </p:nvPicPr>
        <p:blipFill rotWithShape="1">
          <a:blip r:embed="rId5">
            <a:alphaModFix/>
          </a:blip>
          <a:srcRect/>
          <a:stretch/>
        </p:blipFill>
        <p:spPr>
          <a:xfrm>
            <a:off x="6381750" y="1688901"/>
            <a:ext cx="5238750" cy="3810000"/>
          </a:xfrm>
          <a:prstGeom prst="rect">
            <a:avLst/>
          </a:prstGeom>
          <a:noFill/>
          <a:ln>
            <a:noFill/>
          </a:ln>
        </p:spPr>
      </p:pic>
      <p:sp>
        <p:nvSpPr>
          <p:cNvPr id="253" name="Google Shape;253;p22"/>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Monitoring and Control Technologies</a:t>
            </a:r>
            <a:endParaRPr/>
          </a:p>
        </p:txBody>
      </p:sp>
    </p:spTree>
    <p:extLst>
      <p:ext uri="{BB962C8B-B14F-4D97-AF65-F5344CB8AC3E}">
        <p14:creationId xmlns:p14="http://schemas.microsoft.com/office/powerpoint/2010/main" val="2410447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7"/>
        <p:cNvGrpSpPr/>
        <p:nvPr/>
      </p:nvGrpSpPr>
      <p:grpSpPr>
        <a:xfrm>
          <a:off x="0" y="0"/>
          <a:ext cx="0" cy="0"/>
          <a:chOff x="0" y="0"/>
          <a:chExt cx="0" cy="0"/>
        </a:xfrm>
      </p:grpSpPr>
      <p:pic>
        <p:nvPicPr>
          <p:cNvPr id="258" name="Google Shape;258;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9" name="Google Shape;259;p23" descr="image.png"/>
          <p:cNvPicPr preferRelativeResize="0"/>
          <p:nvPr/>
        </p:nvPicPr>
        <p:blipFill rotWithShape="1">
          <a:blip r:embed="rId4">
            <a:alphaModFix/>
          </a:blip>
          <a:srcRect/>
          <a:stretch/>
        </p:blipFill>
        <p:spPr>
          <a:xfrm>
            <a:off x="571500" y="2448966"/>
            <a:ext cx="3492549" cy="2836366"/>
          </a:xfrm>
          <a:prstGeom prst="rect">
            <a:avLst/>
          </a:prstGeom>
          <a:noFill/>
          <a:ln>
            <a:noFill/>
          </a:ln>
        </p:spPr>
      </p:pic>
      <p:pic>
        <p:nvPicPr>
          <p:cNvPr id="260" name="Google Shape;260;p23" descr="image.png"/>
          <p:cNvPicPr preferRelativeResize="0"/>
          <p:nvPr/>
        </p:nvPicPr>
        <p:blipFill rotWithShape="1">
          <a:blip r:embed="rId5">
            <a:alphaModFix/>
          </a:blip>
          <a:srcRect/>
          <a:stretch/>
        </p:blipFill>
        <p:spPr>
          <a:xfrm>
            <a:off x="4349799" y="2448966"/>
            <a:ext cx="3492549" cy="2836366"/>
          </a:xfrm>
          <a:prstGeom prst="rect">
            <a:avLst/>
          </a:prstGeom>
          <a:noFill/>
          <a:ln>
            <a:noFill/>
          </a:ln>
        </p:spPr>
      </p:pic>
      <p:pic>
        <p:nvPicPr>
          <p:cNvPr id="261" name="Google Shape;261;p23" descr="image.png"/>
          <p:cNvPicPr preferRelativeResize="0"/>
          <p:nvPr/>
        </p:nvPicPr>
        <p:blipFill rotWithShape="1">
          <a:blip r:embed="rId6">
            <a:alphaModFix/>
          </a:blip>
          <a:srcRect/>
          <a:stretch/>
        </p:blipFill>
        <p:spPr>
          <a:xfrm>
            <a:off x="8128099" y="2448966"/>
            <a:ext cx="3492549" cy="2836366"/>
          </a:xfrm>
          <a:prstGeom prst="rect">
            <a:avLst/>
          </a:prstGeom>
          <a:noFill/>
          <a:ln>
            <a:noFill/>
          </a:ln>
        </p:spPr>
      </p:pic>
      <p:sp>
        <p:nvSpPr>
          <p:cNvPr id="262" name="Google Shape;262;p23"/>
          <p:cNvSpPr txBox="1"/>
          <p:nvPr/>
        </p:nvSpPr>
        <p:spPr>
          <a:xfrm>
            <a:off x="1169392" y="2630220"/>
            <a:ext cx="2090261"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GIS &amp; Mapping</a:t>
            </a:r>
            <a:endParaRPr/>
          </a:p>
        </p:txBody>
      </p:sp>
      <p:sp>
        <p:nvSpPr>
          <p:cNvPr id="263" name="Google Shape;263;p23"/>
          <p:cNvSpPr txBox="1"/>
          <p:nvPr/>
        </p:nvSpPr>
        <p:spPr>
          <a:xfrm>
            <a:off x="802767" y="3296795"/>
            <a:ext cx="2901999"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dirty="0">
                <a:solidFill>
                  <a:srgbClr val="334155"/>
                </a:solidFill>
                <a:latin typeface="DM Sans"/>
                <a:ea typeface="DM Sans"/>
                <a:cs typeface="DM Sans"/>
                <a:sym typeface="DM Sans"/>
              </a:rPr>
              <a:t>Spatial data, hotspot identification, land-use conflict analysis, planning and zoning support.</a:t>
            </a:r>
            <a:endParaRPr sz="1800" dirty="0"/>
          </a:p>
        </p:txBody>
      </p:sp>
      <p:sp>
        <p:nvSpPr>
          <p:cNvPr id="264" name="Google Shape;264;p23"/>
          <p:cNvSpPr txBox="1"/>
          <p:nvPr/>
        </p:nvSpPr>
        <p:spPr>
          <a:xfrm>
            <a:off x="722070" y="4648084"/>
            <a:ext cx="3191255" cy="393954"/>
          </a:xfrm>
          <a:prstGeom prst="rect">
            <a:avLst/>
          </a:prstGeom>
          <a:noFill/>
          <a:ln>
            <a:noFill/>
          </a:ln>
        </p:spPr>
        <p:txBody>
          <a:bodyPr spcFirstLastPara="1" wrap="square" lIns="0" tIns="0" rIns="0" bIns="0" anchor="t" anchorCtr="0">
            <a:spAutoFit/>
          </a:bodyPr>
          <a:lstStyle/>
          <a:p>
            <a:pPr marL="0" marR="0" lvl="0" indent="0" algn="ctr" rtl="0">
              <a:lnSpc>
                <a:spcPct val="159904"/>
              </a:lnSpc>
              <a:spcBef>
                <a:spcPts val="0"/>
              </a:spcBef>
              <a:spcAft>
                <a:spcPts val="0"/>
              </a:spcAft>
              <a:buNone/>
            </a:pPr>
            <a:r>
              <a:rPr lang="en-US" sz="1600" b="0" i="1" u="none" strike="noStrike" cap="none" dirty="0">
                <a:solidFill>
                  <a:srgbClr val="64748B"/>
                </a:solidFill>
                <a:latin typeface="DM Sans"/>
                <a:ea typeface="DM Sans"/>
                <a:cs typeface="DM Sans"/>
                <a:sym typeface="DM Sans"/>
              </a:rPr>
              <a:t>Ex: Mapping illegal dumping sites.</a:t>
            </a:r>
            <a:endParaRPr sz="2400" dirty="0"/>
          </a:p>
        </p:txBody>
      </p:sp>
      <p:sp>
        <p:nvSpPr>
          <p:cNvPr id="265" name="Google Shape;265;p23"/>
          <p:cNvSpPr txBox="1"/>
          <p:nvPr/>
        </p:nvSpPr>
        <p:spPr>
          <a:xfrm>
            <a:off x="4469347" y="2630220"/>
            <a:ext cx="3047099" cy="685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Environmental Modeling</a:t>
            </a:r>
            <a:endParaRPr/>
          </a:p>
        </p:txBody>
      </p:sp>
      <p:sp>
        <p:nvSpPr>
          <p:cNvPr id="266" name="Google Shape;266;p23"/>
          <p:cNvSpPr txBox="1"/>
          <p:nvPr/>
        </p:nvSpPr>
        <p:spPr>
          <a:xfrm>
            <a:off x="4581066" y="3639695"/>
            <a:ext cx="2901999" cy="138499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334155"/>
                </a:solidFill>
                <a:latin typeface="DM Sans"/>
                <a:ea typeface="DM Sans"/>
                <a:cs typeface="DM Sans"/>
                <a:sym typeface="DM Sans"/>
              </a:rPr>
              <a:t>Predict future impacts, compare scenarios, support early warning, and reduce uncertainty in planning.</a:t>
            </a:r>
            <a:endParaRPr sz="1800"/>
          </a:p>
        </p:txBody>
      </p:sp>
      <p:sp>
        <p:nvSpPr>
          <p:cNvPr id="267" name="Google Shape;267;p23"/>
          <p:cNvSpPr txBox="1"/>
          <p:nvPr/>
        </p:nvSpPr>
        <p:spPr>
          <a:xfrm>
            <a:off x="8735993" y="2630220"/>
            <a:ext cx="2070258"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EIA &amp; Auditing</a:t>
            </a:r>
            <a:endParaRPr/>
          </a:p>
        </p:txBody>
      </p:sp>
      <p:sp>
        <p:nvSpPr>
          <p:cNvPr id="268" name="Google Shape;268;p23"/>
          <p:cNvSpPr txBox="1"/>
          <p:nvPr/>
        </p:nvSpPr>
        <p:spPr>
          <a:xfrm>
            <a:off x="8359366" y="3296795"/>
            <a:ext cx="2901999" cy="166199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334155"/>
                </a:solidFill>
                <a:latin typeface="DM Sans"/>
                <a:ea typeface="DM Sans"/>
                <a:cs typeface="DM Sans"/>
                <a:sym typeface="DM Sans"/>
              </a:rPr>
              <a:t>EIA:</a:t>
            </a:r>
            <a:r>
              <a:rPr lang="en-US" sz="1800" b="0" i="0" u="none" strike="noStrike" cap="none">
                <a:solidFill>
                  <a:srgbClr val="334155"/>
                </a:solidFill>
                <a:latin typeface="DM Sans"/>
                <a:ea typeface="DM Sans"/>
                <a:cs typeface="DM Sans"/>
                <a:sym typeface="DM Sans"/>
              </a:rPr>
              <a:t> Before project implementation.</a:t>
            </a:r>
            <a:br>
              <a:rPr lang="en-US" sz="1800" b="0" i="0" u="none" strike="noStrike" cap="none">
                <a:solidFill>
                  <a:schemeClr val="dk1"/>
                </a:solidFill>
                <a:latin typeface="Calibri"/>
                <a:ea typeface="Calibri"/>
                <a:cs typeface="Calibri"/>
                <a:sym typeface="Calibri"/>
              </a:rPr>
            </a:br>
            <a:r>
              <a:rPr lang="en-US" sz="1800" b="1" i="0" u="none" strike="noStrike" cap="none">
                <a:solidFill>
                  <a:srgbClr val="334155"/>
                </a:solidFill>
                <a:latin typeface="DM Sans"/>
                <a:ea typeface="DM Sans"/>
                <a:cs typeface="DM Sans"/>
                <a:sym typeface="DM Sans"/>
              </a:rPr>
              <a:t>Auditing:</a:t>
            </a:r>
            <a:r>
              <a:rPr lang="en-US" sz="1800" b="0" i="0" u="none" strike="noStrike" cap="none">
                <a:solidFill>
                  <a:srgbClr val="334155"/>
                </a:solidFill>
                <a:latin typeface="DM Sans"/>
                <a:ea typeface="DM Sans"/>
                <a:cs typeface="DM Sans"/>
                <a:sym typeface="DM Sans"/>
              </a:rPr>
              <a:t> Check compliance and performance during operation.</a:t>
            </a:r>
            <a:endParaRPr sz="1800"/>
          </a:p>
        </p:txBody>
      </p:sp>
      <p:pic>
        <p:nvPicPr>
          <p:cNvPr id="269" name="Google Shape;269;p23" descr="image.png"/>
          <p:cNvPicPr preferRelativeResize="0"/>
          <p:nvPr/>
        </p:nvPicPr>
        <p:blipFill rotWithShape="1">
          <a:blip r:embed="rId7">
            <a:alphaModFix/>
          </a:blip>
          <a:srcRect/>
          <a:stretch/>
        </p:blipFill>
        <p:spPr>
          <a:xfrm>
            <a:off x="2103386" y="1996529"/>
            <a:ext cx="428625" cy="381000"/>
          </a:xfrm>
          <a:prstGeom prst="rect">
            <a:avLst/>
          </a:prstGeom>
          <a:noFill/>
          <a:ln>
            <a:noFill/>
          </a:ln>
        </p:spPr>
      </p:pic>
      <p:pic>
        <p:nvPicPr>
          <p:cNvPr id="270" name="Google Shape;270;p23" descr="image.png"/>
          <p:cNvPicPr preferRelativeResize="0"/>
          <p:nvPr/>
        </p:nvPicPr>
        <p:blipFill rotWithShape="1">
          <a:blip r:embed="rId8">
            <a:alphaModFix/>
          </a:blip>
          <a:srcRect/>
          <a:stretch/>
        </p:blipFill>
        <p:spPr>
          <a:xfrm>
            <a:off x="5881687" y="2047875"/>
            <a:ext cx="428625" cy="381000"/>
          </a:xfrm>
          <a:prstGeom prst="rect">
            <a:avLst/>
          </a:prstGeom>
          <a:noFill/>
          <a:ln>
            <a:noFill/>
          </a:ln>
        </p:spPr>
      </p:pic>
      <p:pic>
        <p:nvPicPr>
          <p:cNvPr id="271" name="Google Shape;271;p23" descr="image.png"/>
          <p:cNvPicPr preferRelativeResize="0"/>
          <p:nvPr/>
        </p:nvPicPr>
        <p:blipFill rotWithShape="1">
          <a:blip r:embed="rId9">
            <a:alphaModFix/>
          </a:blip>
          <a:srcRect/>
          <a:stretch/>
        </p:blipFill>
        <p:spPr>
          <a:xfrm>
            <a:off x="9731424" y="1953945"/>
            <a:ext cx="285750" cy="381000"/>
          </a:xfrm>
          <a:prstGeom prst="rect">
            <a:avLst/>
          </a:prstGeom>
          <a:noFill/>
          <a:ln>
            <a:noFill/>
          </a:ln>
        </p:spPr>
      </p:pic>
      <p:sp>
        <p:nvSpPr>
          <p:cNvPr id="272" name="Google Shape;272;p23"/>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Modern Tools Highlighted in 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6"/>
        <p:cNvGrpSpPr/>
        <p:nvPr/>
      </p:nvGrpSpPr>
      <p:grpSpPr>
        <a:xfrm>
          <a:off x="0" y="0"/>
          <a:ext cx="0" cy="0"/>
          <a:chOff x="0" y="0"/>
          <a:chExt cx="0" cy="0"/>
        </a:xfrm>
      </p:grpSpPr>
      <p:pic>
        <p:nvPicPr>
          <p:cNvPr id="277" name="Google Shape;277;p24" descr="image.png"/>
          <p:cNvPicPr preferRelativeResize="0"/>
          <p:nvPr/>
        </p:nvPicPr>
        <p:blipFill rotWithShape="1">
          <a:blip r:embed="rId3">
            <a:alphaModFix/>
          </a:blip>
          <a:srcRect/>
          <a:stretch/>
        </p:blipFill>
        <p:spPr>
          <a:xfrm>
            <a:off x="19050" y="0"/>
            <a:ext cx="12192000" cy="6858000"/>
          </a:xfrm>
          <a:prstGeom prst="rect">
            <a:avLst/>
          </a:prstGeom>
          <a:noFill/>
          <a:ln>
            <a:noFill/>
          </a:ln>
        </p:spPr>
      </p:pic>
      <p:pic>
        <p:nvPicPr>
          <p:cNvPr id="278" name="Google Shape;278;p24" descr="image.png"/>
          <p:cNvPicPr preferRelativeResize="0"/>
          <p:nvPr/>
        </p:nvPicPr>
        <p:blipFill rotWithShape="1">
          <a:blip r:embed="rId4">
            <a:alphaModFix/>
          </a:blip>
          <a:srcRect/>
          <a:stretch/>
        </p:blipFill>
        <p:spPr>
          <a:xfrm>
            <a:off x="6381750" y="2035522"/>
            <a:ext cx="5238750" cy="3663106"/>
          </a:xfrm>
          <a:prstGeom prst="rect">
            <a:avLst/>
          </a:prstGeom>
          <a:noFill/>
          <a:ln>
            <a:noFill/>
          </a:ln>
        </p:spPr>
      </p:pic>
      <p:sp>
        <p:nvSpPr>
          <p:cNvPr id="279" name="Google Shape;279;p24"/>
          <p:cNvSpPr txBox="1"/>
          <p:nvPr/>
        </p:nvSpPr>
        <p:spPr>
          <a:xfrm>
            <a:off x="595313" y="1466850"/>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Case: Factory Expansion</a:t>
            </a:r>
            <a:endParaRPr dirty="0"/>
          </a:p>
        </p:txBody>
      </p:sp>
      <p:sp>
        <p:nvSpPr>
          <p:cNvPr id="280" name="Google Shape;280;p24"/>
          <p:cNvSpPr txBox="1"/>
          <p:nvPr/>
        </p:nvSpPr>
        <p:spPr>
          <a:xfrm>
            <a:off x="595313" y="2024727"/>
            <a:ext cx="52387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A food-processing factory wants to expand. Technology questions to ask:</a:t>
            </a:r>
            <a:endParaRPr sz="2000" dirty="0"/>
          </a:p>
        </p:txBody>
      </p:sp>
      <p:sp>
        <p:nvSpPr>
          <p:cNvPr id="281" name="Google Shape;281;p24"/>
          <p:cNvSpPr txBox="1"/>
          <p:nvPr/>
        </p:nvSpPr>
        <p:spPr>
          <a:xfrm>
            <a:off x="6716077" y="1416397"/>
            <a:ext cx="4880610"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Choose the Right Technology</a:t>
            </a:r>
            <a:endParaRPr dirty="0"/>
          </a:p>
        </p:txBody>
      </p:sp>
      <p:sp>
        <p:nvSpPr>
          <p:cNvPr id="282" name="Google Shape;282;p24"/>
          <p:cNvSpPr txBox="1"/>
          <p:nvPr/>
        </p:nvSpPr>
        <p:spPr>
          <a:xfrm>
            <a:off x="6381750" y="2197397"/>
            <a:ext cx="5214937" cy="8309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Choose 1 case:</a:t>
            </a:r>
            <a:r>
              <a:rPr lang="en-US" sz="1800" b="0" i="0" u="none" strike="noStrike" cap="none" dirty="0">
                <a:solidFill>
                  <a:srgbClr val="334155"/>
                </a:solidFill>
                <a:latin typeface="DM Sans"/>
                <a:ea typeface="DM Sans"/>
                <a:cs typeface="DM Sans"/>
                <a:sym typeface="DM Sans"/>
              </a:rPr>
              <a:t> Campus plastic waste, livestock waste, craft village wastewater, or construction dust/noise.</a:t>
            </a:r>
            <a:endParaRPr sz="2000" dirty="0"/>
          </a:p>
        </p:txBody>
      </p:sp>
      <p:sp>
        <p:nvSpPr>
          <p:cNvPr id="283" name="Google Shape;283;p24"/>
          <p:cNvSpPr txBox="1"/>
          <p:nvPr/>
        </p:nvSpPr>
        <p:spPr>
          <a:xfrm>
            <a:off x="6470904" y="3249485"/>
            <a:ext cx="4648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Answer:</a:t>
            </a:r>
            <a:endParaRPr sz="2000" dirty="0"/>
          </a:p>
        </p:txBody>
      </p:sp>
      <p:sp>
        <p:nvSpPr>
          <p:cNvPr id="285" name="Google Shape;285;p24"/>
          <p:cNvSpPr txBox="1"/>
          <p:nvPr/>
        </p:nvSpPr>
        <p:spPr>
          <a:xfrm>
            <a:off x="752475" y="2753767"/>
            <a:ext cx="5405437"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How much more wastewater will be generated?</a:t>
            </a:r>
            <a:endParaRPr sz="2000" dirty="0"/>
          </a:p>
        </p:txBody>
      </p:sp>
      <p:sp>
        <p:nvSpPr>
          <p:cNvPr id="287" name="Google Shape;287;p24"/>
          <p:cNvSpPr txBox="1"/>
          <p:nvPr/>
        </p:nvSpPr>
        <p:spPr>
          <a:xfrm>
            <a:off x="809626" y="3269174"/>
            <a:ext cx="500062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Is the treatment system enough?</a:t>
            </a:r>
            <a:endParaRPr sz="2000" dirty="0"/>
          </a:p>
        </p:txBody>
      </p:sp>
      <p:sp>
        <p:nvSpPr>
          <p:cNvPr id="289" name="Google Shape;289;p24"/>
          <p:cNvSpPr txBox="1"/>
          <p:nvPr/>
        </p:nvSpPr>
        <p:spPr>
          <a:xfrm>
            <a:off x="752475" y="3807961"/>
            <a:ext cx="500062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What monitoring should be upgraded?</a:t>
            </a:r>
            <a:endParaRPr sz="2000" dirty="0"/>
          </a:p>
        </p:txBody>
      </p:sp>
      <p:sp>
        <p:nvSpPr>
          <p:cNvPr id="291" name="Google Shape;291;p24"/>
          <p:cNvSpPr txBox="1"/>
          <p:nvPr/>
        </p:nvSpPr>
        <p:spPr>
          <a:xfrm>
            <a:off x="781050" y="4271030"/>
            <a:ext cx="500062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What indicators should be reported?</a:t>
            </a:r>
            <a:endParaRPr sz="2000" dirty="0"/>
          </a:p>
        </p:txBody>
      </p:sp>
      <p:sp>
        <p:nvSpPr>
          <p:cNvPr id="293" name="Google Shape;293;p24"/>
          <p:cNvSpPr txBox="1"/>
          <p:nvPr/>
        </p:nvSpPr>
        <p:spPr>
          <a:xfrm>
            <a:off x="6594729" y="3746151"/>
            <a:ext cx="4844796" cy="276999"/>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What tech is needed for monitoring?</a:t>
            </a:r>
            <a:endParaRPr sz="2000" dirty="0"/>
          </a:p>
        </p:txBody>
      </p:sp>
      <p:sp>
        <p:nvSpPr>
          <p:cNvPr id="295" name="Google Shape;295;p24"/>
          <p:cNvSpPr txBox="1"/>
          <p:nvPr/>
        </p:nvSpPr>
        <p:spPr>
          <a:xfrm>
            <a:off x="6594729" y="4264223"/>
            <a:ext cx="4844796" cy="276999"/>
          </a:xfrm>
          <a:prstGeom prst="rect">
            <a:avLst/>
          </a:prstGeom>
          <a:noFill/>
          <a:ln>
            <a:noFill/>
          </a:ln>
        </p:spPr>
        <p:txBody>
          <a:bodyPr spcFirstLastPara="1" wrap="square" lIns="1333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What tech is needed for control/treatment?</a:t>
            </a:r>
            <a:endParaRPr sz="2000" dirty="0"/>
          </a:p>
        </p:txBody>
      </p:sp>
      <p:sp>
        <p:nvSpPr>
          <p:cNvPr id="297" name="Google Shape;297;p24"/>
          <p:cNvSpPr txBox="1"/>
          <p:nvPr/>
        </p:nvSpPr>
        <p:spPr>
          <a:xfrm>
            <a:off x="6594729" y="4766379"/>
            <a:ext cx="4844796" cy="276999"/>
          </a:xfrm>
          <a:prstGeom prst="rect">
            <a:avLst/>
          </a:prstGeom>
          <a:noFill/>
          <a:ln>
            <a:noFill/>
          </a:ln>
        </p:spPr>
        <p:txBody>
          <a:bodyPr spcFirstLastPara="1" wrap="square" lIns="142875"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What is the limitation of technology alone?</a:t>
            </a:r>
            <a:endParaRPr sz="2000" dirty="0"/>
          </a:p>
        </p:txBody>
      </p:sp>
      <p:sp>
        <p:nvSpPr>
          <p:cNvPr id="298" name="Google Shape;298;p24"/>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64E3B"/>
                </a:solidFill>
                <a:latin typeface="Merriweather"/>
                <a:ea typeface="Merriweather"/>
                <a:cs typeface="Merriweather"/>
                <a:sym typeface="Merriweather"/>
              </a:rPr>
              <a:t>Real Example &amp; Group Activity</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2"/>
        <p:cNvGrpSpPr/>
        <p:nvPr/>
      </p:nvGrpSpPr>
      <p:grpSpPr>
        <a:xfrm>
          <a:off x="0" y="0"/>
          <a:ext cx="0" cy="0"/>
          <a:chOff x="0" y="0"/>
          <a:chExt cx="0" cy="0"/>
        </a:xfrm>
      </p:grpSpPr>
      <p:pic>
        <p:nvPicPr>
          <p:cNvPr id="303" name="Google Shape;303;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4" name="Google Shape;304;p25" descr="image.png"/>
          <p:cNvPicPr preferRelativeResize="0"/>
          <p:nvPr/>
        </p:nvPicPr>
        <p:blipFill rotWithShape="1">
          <a:blip r:embed="rId4">
            <a:alphaModFix/>
          </a:blip>
          <a:srcRect/>
          <a:stretch/>
        </p:blipFill>
        <p:spPr>
          <a:xfrm>
            <a:off x="571500" y="1869876"/>
            <a:ext cx="5238750" cy="3994546"/>
          </a:xfrm>
          <a:prstGeom prst="rect">
            <a:avLst/>
          </a:prstGeom>
          <a:noFill/>
          <a:ln>
            <a:noFill/>
          </a:ln>
        </p:spPr>
      </p:pic>
      <p:pic>
        <p:nvPicPr>
          <p:cNvPr id="305" name="Google Shape;305;p25" descr="image.png"/>
          <p:cNvPicPr preferRelativeResize="0"/>
          <p:nvPr/>
        </p:nvPicPr>
        <p:blipFill rotWithShape="1">
          <a:blip r:embed="rId5">
            <a:alphaModFix/>
          </a:blip>
          <a:srcRect/>
          <a:stretch/>
        </p:blipFill>
        <p:spPr>
          <a:xfrm>
            <a:off x="6381750" y="1869876"/>
            <a:ext cx="5238750" cy="3994546"/>
          </a:xfrm>
          <a:prstGeom prst="rect">
            <a:avLst/>
          </a:prstGeom>
          <a:noFill/>
          <a:ln>
            <a:noFill/>
          </a:ln>
        </p:spPr>
      </p:pic>
      <p:pic>
        <p:nvPicPr>
          <p:cNvPr id="306" name="Google Shape;306;p25" descr="image.png"/>
          <p:cNvPicPr preferRelativeResize="0"/>
          <p:nvPr/>
        </p:nvPicPr>
        <p:blipFill rotWithShape="1">
          <a:blip r:embed="rId6">
            <a:alphaModFix/>
          </a:blip>
          <a:srcRect/>
          <a:stretch/>
        </p:blipFill>
        <p:spPr>
          <a:xfrm>
            <a:off x="6772275" y="4376737"/>
            <a:ext cx="4457700" cy="773310"/>
          </a:xfrm>
          <a:prstGeom prst="rect">
            <a:avLst/>
          </a:prstGeom>
          <a:noFill/>
          <a:ln>
            <a:noFill/>
          </a:ln>
        </p:spPr>
      </p:pic>
      <p:sp>
        <p:nvSpPr>
          <p:cNvPr id="307" name="Google Shape;307;p25"/>
          <p:cNvSpPr txBox="1"/>
          <p:nvPr/>
        </p:nvSpPr>
        <p:spPr>
          <a:xfrm>
            <a:off x="962025" y="2260401"/>
            <a:ext cx="4680585"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Possible Matching Outcomes</a:t>
            </a:r>
            <a:endParaRPr/>
          </a:p>
        </p:txBody>
      </p:sp>
      <p:sp>
        <p:nvSpPr>
          <p:cNvPr id="308" name="Google Shape;308;p25"/>
          <p:cNvSpPr txBox="1"/>
          <p:nvPr/>
        </p:nvSpPr>
        <p:spPr>
          <a:xfrm>
            <a:off x="6772275" y="2260401"/>
            <a:ext cx="4680585"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Limits of Technology</a:t>
            </a:r>
            <a:endParaRPr/>
          </a:p>
        </p:txBody>
      </p:sp>
      <p:sp>
        <p:nvSpPr>
          <p:cNvPr id="309" name="Google Shape;309;p25"/>
          <p:cNvSpPr txBox="1"/>
          <p:nvPr/>
        </p:nvSpPr>
        <p:spPr>
          <a:xfrm>
            <a:off x="1143000" y="274522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10" name="Google Shape;310;p25"/>
          <p:cNvSpPr txBox="1"/>
          <p:nvPr/>
        </p:nvSpPr>
        <p:spPr>
          <a:xfrm>
            <a:off x="1200150" y="2746176"/>
            <a:ext cx="421957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Campus plastic waste:</a:t>
            </a:r>
            <a:r>
              <a:rPr lang="en-US" sz="1800" b="0" i="0" u="none" strike="noStrike" cap="none" dirty="0">
                <a:solidFill>
                  <a:srgbClr val="334155"/>
                </a:solidFill>
                <a:latin typeface="DM Sans"/>
                <a:ea typeface="DM Sans"/>
                <a:cs typeface="DM Sans"/>
                <a:sym typeface="DM Sans"/>
              </a:rPr>
              <a:t> waste audit + sorting bins + recycling link</a:t>
            </a:r>
            <a:endParaRPr sz="1800" dirty="0"/>
          </a:p>
        </p:txBody>
      </p:sp>
      <p:sp>
        <p:nvSpPr>
          <p:cNvPr id="311" name="Google Shape;311;p25"/>
          <p:cNvSpPr txBox="1"/>
          <p:nvPr/>
        </p:nvSpPr>
        <p:spPr>
          <a:xfrm>
            <a:off x="1143000" y="340810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12" name="Google Shape;312;p25"/>
          <p:cNvSpPr txBox="1"/>
          <p:nvPr/>
        </p:nvSpPr>
        <p:spPr>
          <a:xfrm>
            <a:off x="1200150" y="3409057"/>
            <a:ext cx="421957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Livestock waste:</a:t>
            </a:r>
            <a:r>
              <a:rPr lang="en-US" sz="1800" b="0" i="0" u="none" strike="noStrike" cap="none">
                <a:solidFill>
                  <a:srgbClr val="334155"/>
                </a:solidFill>
                <a:latin typeface="DM Sans"/>
                <a:ea typeface="DM Sans"/>
                <a:cs typeface="DM Sans"/>
                <a:sym typeface="DM Sans"/>
              </a:rPr>
              <a:t> biogas + wastewater treatment + odor control</a:t>
            </a:r>
            <a:endParaRPr sz="1800"/>
          </a:p>
        </p:txBody>
      </p:sp>
      <p:sp>
        <p:nvSpPr>
          <p:cNvPr id="313" name="Google Shape;313;p25"/>
          <p:cNvSpPr txBox="1"/>
          <p:nvPr/>
        </p:nvSpPr>
        <p:spPr>
          <a:xfrm>
            <a:off x="1143000" y="4070985"/>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14" name="Google Shape;314;p25"/>
          <p:cNvSpPr txBox="1"/>
          <p:nvPr/>
        </p:nvSpPr>
        <p:spPr>
          <a:xfrm>
            <a:off x="1200150" y="4071937"/>
            <a:ext cx="421957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Craft village wastewater:</a:t>
            </a:r>
            <a:r>
              <a:rPr lang="en-US" sz="1800" b="0" i="0" u="none" strike="noStrike" cap="none">
                <a:solidFill>
                  <a:srgbClr val="334155"/>
                </a:solidFill>
                <a:latin typeface="DM Sans"/>
                <a:ea typeface="DM Sans"/>
                <a:cs typeface="DM Sans"/>
                <a:sym typeface="DM Sans"/>
              </a:rPr>
              <a:t> pre-treatment + shared system + sampling</a:t>
            </a:r>
            <a:endParaRPr sz="1800"/>
          </a:p>
        </p:txBody>
      </p:sp>
      <p:sp>
        <p:nvSpPr>
          <p:cNvPr id="315" name="Google Shape;315;p25"/>
          <p:cNvSpPr txBox="1"/>
          <p:nvPr/>
        </p:nvSpPr>
        <p:spPr>
          <a:xfrm>
            <a:off x="1143000" y="4733865"/>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16" name="Google Shape;316;p25"/>
          <p:cNvSpPr txBox="1"/>
          <p:nvPr/>
        </p:nvSpPr>
        <p:spPr>
          <a:xfrm>
            <a:off x="1200150" y="4734817"/>
            <a:ext cx="421957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Construction dust/noise:</a:t>
            </a:r>
            <a:r>
              <a:rPr lang="en-US" sz="1800" b="0" i="0" u="none" strike="noStrike" cap="none">
                <a:solidFill>
                  <a:srgbClr val="334155"/>
                </a:solidFill>
                <a:latin typeface="DM Sans"/>
                <a:ea typeface="DM Sans"/>
                <a:cs typeface="DM Sans"/>
                <a:sym typeface="DM Sans"/>
              </a:rPr>
              <a:t> dust/noise barriers + monitoring devices</a:t>
            </a:r>
            <a:endParaRPr sz="1800"/>
          </a:p>
        </p:txBody>
      </p:sp>
      <p:sp>
        <p:nvSpPr>
          <p:cNvPr id="317" name="Google Shape;317;p25"/>
          <p:cNvSpPr txBox="1"/>
          <p:nvPr/>
        </p:nvSpPr>
        <p:spPr>
          <a:xfrm>
            <a:off x="6953250" y="274522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18" name="Google Shape;318;p25"/>
          <p:cNvSpPr txBox="1"/>
          <p:nvPr/>
        </p:nvSpPr>
        <p:spPr>
          <a:xfrm>
            <a:off x="7010400" y="2745224"/>
            <a:ext cx="42195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High capital and operational cost</a:t>
            </a:r>
            <a:endParaRPr sz="2000" dirty="0"/>
          </a:p>
        </p:txBody>
      </p:sp>
      <p:sp>
        <p:nvSpPr>
          <p:cNvPr id="319" name="Google Shape;319;p25"/>
          <p:cNvSpPr txBox="1"/>
          <p:nvPr/>
        </p:nvSpPr>
        <p:spPr>
          <a:xfrm>
            <a:off x="6953250" y="313381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20" name="Google Shape;320;p25"/>
          <p:cNvSpPr txBox="1"/>
          <p:nvPr/>
        </p:nvSpPr>
        <p:spPr>
          <a:xfrm>
            <a:off x="7010400" y="3133814"/>
            <a:ext cx="42195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Unequal access to modern solutions</a:t>
            </a:r>
            <a:endParaRPr sz="2000"/>
          </a:p>
        </p:txBody>
      </p:sp>
      <p:sp>
        <p:nvSpPr>
          <p:cNvPr id="321" name="Google Shape;321;p25"/>
          <p:cNvSpPr txBox="1"/>
          <p:nvPr/>
        </p:nvSpPr>
        <p:spPr>
          <a:xfrm>
            <a:off x="6953250" y="352240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22" name="Google Shape;322;p25"/>
          <p:cNvSpPr txBox="1"/>
          <p:nvPr/>
        </p:nvSpPr>
        <p:spPr>
          <a:xfrm>
            <a:off x="7010400" y="3523357"/>
            <a:ext cx="42195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Weak maintenance infrastructure</a:t>
            </a:r>
            <a:endParaRPr sz="2000"/>
          </a:p>
        </p:txBody>
      </p:sp>
      <p:sp>
        <p:nvSpPr>
          <p:cNvPr id="323" name="Google Shape;323;p25"/>
          <p:cNvSpPr txBox="1"/>
          <p:nvPr/>
        </p:nvSpPr>
        <p:spPr>
          <a:xfrm>
            <a:off x="6953250" y="391099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24" name="Google Shape;324;p25"/>
          <p:cNvSpPr txBox="1"/>
          <p:nvPr/>
        </p:nvSpPr>
        <p:spPr>
          <a:xfrm>
            <a:off x="7010400" y="3911947"/>
            <a:ext cx="42195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Poor enforcement protocols</a:t>
            </a:r>
            <a:endParaRPr sz="2000"/>
          </a:p>
        </p:txBody>
      </p:sp>
      <p:sp>
        <p:nvSpPr>
          <p:cNvPr id="325" name="Google Shape;325;p25"/>
          <p:cNvSpPr txBox="1"/>
          <p:nvPr/>
        </p:nvSpPr>
        <p:spPr>
          <a:xfrm>
            <a:off x="6953250" y="4519612"/>
            <a:ext cx="41338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991B1B"/>
                </a:solidFill>
                <a:latin typeface="DM Sans"/>
                <a:ea typeface="DM Sans"/>
                <a:cs typeface="DM Sans"/>
                <a:sym typeface="DM Sans"/>
              </a:rPr>
              <a:t>Crucial:</a:t>
            </a:r>
            <a:r>
              <a:rPr lang="en-US" sz="1800" b="0" i="0" u="none" strike="noStrike" cap="none" dirty="0">
                <a:solidFill>
                  <a:srgbClr val="991B1B"/>
                </a:solidFill>
                <a:latin typeface="DM Sans"/>
                <a:ea typeface="DM Sans"/>
                <a:cs typeface="DM Sans"/>
                <a:sym typeface="DM Sans"/>
              </a:rPr>
              <a:t> Technology without behavior change may ultimately fail.</a:t>
            </a:r>
            <a:endParaRPr sz="2000" dirty="0"/>
          </a:p>
        </p:txBody>
      </p:sp>
      <p:sp>
        <p:nvSpPr>
          <p:cNvPr id="2" name="Google Shape;298;p24">
            <a:extLst>
              <a:ext uri="{FF2B5EF4-FFF2-40B4-BE49-F238E27FC236}">
                <a16:creationId xmlns:a16="http://schemas.microsoft.com/office/drawing/2014/main" id="{9CFF014C-E233-49E6-8C04-D37EEABCB229}"/>
              </a:ext>
            </a:extLst>
          </p:cNvPr>
          <p:cNvSpPr txBox="1"/>
          <p:nvPr/>
        </p:nvSpPr>
        <p:spPr>
          <a:xfrm>
            <a:off x="681858" y="642669"/>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64E3B"/>
                </a:solidFill>
                <a:latin typeface="Merriweather"/>
                <a:ea typeface="Merriweather"/>
                <a:cs typeface="Merriweather"/>
                <a:sym typeface="Merriweather"/>
              </a:rPr>
              <a:t>Real Example &amp; Group Activity</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pic>
        <p:nvPicPr>
          <p:cNvPr id="343" name="Google Shape;343;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4" name="Google Shape;344;p27"/>
          <p:cNvSpPr txBox="1"/>
          <p:nvPr/>
        </p:nvSpPr>
        <p:spPr>
          <a:xfrm>
            <a:off x="295275" y="1677060"/>
            <a:ext cx="11601450" cy="1295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50" b="1" i="0" u="none" strike="noStrike" cap="none" dirty="0">
                <a:solidFill>
                  <a:srgbClr val="064E3B"/>
                </a:solidFill>
                <a:latin typeface="Merriweather"/>
                <a:ea typeface="Merriweather"/>
                <a:cs typeface="Merriweather"/>
                <a:sym typeface="Merriweather"/>
              </a:rPr>
              <a:t>Economic and Legal Foundations of Environmental Management</a:t>
            </a:r>
            <a:endParaRPr dirty="0"/>
          </a:p>
        </p:txBody>
      </p:sp>
      <p:sp>
        <p:nvSpPr>
          <p:cNvPr id="345" name="Google Shape;345;p27"/>
          <p:cNvSpPr txBox="1"/>
          <p:nvPr/>
        </p:nvSpPr>
        <p:spPr>
          <a:xfrm>
            <a:off x="1536279" y="3429000"/>
            <a:ext cx="9307500" cy="27720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047857"/>
                </a:solidFill>
                <a:latin typeface="DM Sans"/>
                <a:ea typeface="DM Sans"/>
                <a:cs typeface="DM Sans"/>
                <a:sym typeface="DM Sans"/>
              </a:rPr>
              <a:t>Market failures, economic instruments, legal frameworks, and integrated choices.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9"/>
        <p:cNvGrpSpPr/>
        <p:nvPr/>
      </p:nvGrpSpPr>
      <p:grpSpPr>
        <a:xfrm>
          <a:off x="0" y="0"/>
          <a:ext cx="0" cy="0"/>
          <a:chOff x="0" y="0"/>
          <a:chExt cx="0" cy="0"/>
        </a:xfrm>
      </p:grpSpPr>
      <p:pic>
        <p:nvPicPr>
          <p:cNvPr id="350" name="Google Shape;350;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1" name="Google Shape;351;p28" descr="image.png"/>
          <p:cNvPicPr preferRelativeResize="0"/>
          <p:nvPr/>
        </p:nvPicPr>
        <p:blipFill rotWithShape="1">
          <a:blip r:embed="rId4">
            <a:alphaModFix/>
          </a:blip>
          <a:srcRect/>
          <a:stretch/>
        </p:blipFill>
        <p:spPr>
          <a:xfrm>
            <a:off x="6381750" y="1793676"/>
            <a:ext cx="5238750" cy="3810000"/>
          </a:xfrm>
          <a:prstGeom prst="rect">
            <a:avLst/>
          </a:prstGeom>
          <a:noFill/>
          <a:ln>
            <a:noFill/>
          </a:ln>
        </p:spPr>
      </p:pic>
      <p:sp>
        <p:nvSpPr>
          <p:cNvPr id="352" name="Google Shape;352;p28"/>
          <p:cNvSpPr txBox="1"/>
          <p:nvPr/>
        </p:nvSpPr>
        <p:spPr>
          <a:xfrm>
            <a:off x="571500" y="1290786"/>
            <a:ext cx="52387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1" u="none" strike="noStrike" cap="none" dirty="0">
                <a:solidFill>
                  <a:srgbClr val="334155"/>
                </a:solidFill>
                <a:latin typeface="DM Sans"/>
                <a:ea typeface="DM Sans"/>
                <a:cs typeface="DM Sans"/>
                <a:sym typeface="DM Sans"/>
              </a:rPr>
              <a:t>Warm-up: Why do firms often pollute more if there are no rules or fees?</a:t>
            </a:r>
            <a:endParaRPr sz="2000" dirty="0"/>
          </a:p>
        </p:txBody>
      </p:sp>
      <p:sp>
        <p:nvSpPr>
          <p:cNvPr id="353" name="Google Shape;353;p28"/>
          <p:cNvSpPr txBox="1"/>
          <p:nvPr/>
        </p:nvSpPr>
        <p:spPr>
          <a:xfrm>
            <a:off x="559593" y="2106708"/>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Economic Basics</a:t>
            </a:r>
            <a:endParaRPr dirty="0"/>
          </a:p>
        </p:txBody>
      </p:sp>
      <p:sp>
        <p:nvSpPr>
          <p:cNvPr id="354" name="Google Shape;354;p28"/>
          <p:cNvSpPr txBox="1"/>
          <p:nvPr/>
        </p:nvSpPr>
        <p:spPr>
          <a:xfrm>
            <a:off x="571500" y="4212877"/>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Understanding Externalities</a:t>
            </a:r>
            <a:endParaRPr/>
          </a:p>
        </p:txBody>
      </p:sp>
      <p:sp>
        <p:nvSpPr>
          <p:cNvPr id="355" name="Google Shape;355;p28"/>
          <p:cNvSpPr txBox="1"/>
          <p:nvPr/>
        </p:nvSpPr>
        <p:spPr>
          <a:xfrm>
            <a:off x="752475" y="296995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56" name="Google Shape;356;p28"/>
          <p:cNvSpPr txBox="1"/>
          <p:nvPr/>
        </p:nvSpPr>
        <p:spPr>
          <a:xfrm>
            <a:off x="752475" y="2692386"/>
            <a:ext cx="5629275" cy="276225"/>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Market economy affects environmental behavior.</a:t>
            </a:r>
            <a:endParaRPr sz="2000" dirty="0"/>
          </a:p>
        </p:txBody>
      </p:sp>
      <p:sp>
        <p:nvSpPr>
          <p:cNvPr id="357" name="Google Shape;357;p28"/>
          <p:cNvSpPr txBox="1"/>
          <p:nvPr/>
        </p:nvSpPr>
        <p:spPr>
          <a:xfrm>
            <a:off x="752475" y="335854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58" name="Google Shape;358;p28"/>
          <p:cNvSpPr txBox="1"/>
          <p:nvPr/>
        </p:nvSpPr>
        <p:spPr>
          <a:xfrm>
            <a:off x="752475" y="3105000"/>
            <a:ext cx="56292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Producers naturally respond to costs and incentives.</a:t>
            </a:r>
            <a:endParaRPr sz="2000"/>
          </a:p>
        </p:txBody>
      </p:sp>
      <p:sp>
        <p:nvSpPr>
          <p:cNvPr id="359" name="Google Shape;359;p28"/>
          <p:cNvSpPr txBox="1"/>
          <p:nvPr/>
        </p:nvSpPr>
        <p:spPr>
          <a:xfrm>
            <a:off x="752475" y="3747135"/>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60" name="Google Shape;360;p28"/>
          <p:cNvSpPr txBox="1"/>
          <p:nvPr/>
        </p:nvSpPr>
        <p:spPr>
          <a:xfrm>
            <a:off x="752475" y="3493590"/>
            <a:ext cx="5629275" cy="552450"/>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Government uses economic tools to actively guide behavior.</a:t>
            </a:r>
            <a:endParaRPr sz="2000"/>
          </a:p>
        </p:txBody>
      </p:sp>
      <p:sp>
        <p:nvSpPr>
          <p:cNvPr id="361" name="Google Shape;361;p28"/>
          <p:cNvSpPr txBox="1"/>
          <p:nvPr/>
        </p:nvSpPr>
        <p:spPr>
          <a:xfrm>
            <a:off x="752475" y="4697700"/>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62" name="Google Shape;362;p28"/>
          <p:cNvSpPr txBox="1"/>
          <p:nvPr/>
        </p:nvSpPr>
        <p:spPr>
          <a:xfrm>
            <a:off x="809625" y="4698652"/>
            <a:ext cx="562927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A factory gains profit, but nearby residents bear health costs.</a:t>
            </a:r>
            <a:endParaRPr sz="2000" dirty="0"/>
          </a:p>
        </p:txBody>
      </p:sp>
      <p:sp>
        <p:nvSpPr>
          <p:cNvPr id="363" name="Google Shape;363;p28"/>
          <p:cNvSpPr txBox="1"/>
          <p:nvPr/>
        </p:nvSpPr>
        <p:spPr>
          <a:xfrm>
            <a:off x="752475" y="5086290"/>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64" name="Google Shape;364;p28"/>
          <p:cNvSpPr txBox="1"/>
          <p:nvPr/>
        </p:nvSpPr>
        <p:spPr>
          <a:xfrm>
            <a:off x="809624" y="5290215"/>
            <a:ext cx="562927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Society pays for cleanup, healthcare, and lost productivity.</a:t>
            </a:r>
            <a:endParaRPr sz="2000" dirty="0"/>
          </a:p>
        </p:txBody>
      </p:sp>
      <p:sp>
        <p:nvSpPr>
          <p:cNvPr id="365" name="Google Shape;365;p28"/>
          <p:cNvSpPr txBox="1"/>
          <p:nvPr/>
        </p:nvSpPr>
        <p:spPr>
          <a:xfrm>
            <a:off x="752475" y="5474880"/>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366" name="Google Shape;366;p28"/>
          <p:cNvSpPr txBox="1"/>
          <p:nvPr/>
        </p:nvSpPr>
        <p:spPr>
          <a:xfrm>
            <a:off x="809624" y="5846454"/>
            <a:ext cx="562927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Result:</a:t>
            </a:r>
            <a:r>
              <a:rPr lang="en-US" sz="1800" b="0" i="0" u="none" strike="noStrike" cap="none" dirty="0">
                <a:solidFill>
                  <a:srgbClr val="334155"/>
                </a:solidFill>
                <a:latin typeface="DM Sans"/>
                <a:ea typeface="DM Sans"/>
                <a:cs typeface="DM Sans"/>
                <a:sym typeface="DM Sans"/>
              </a:rPr>
              <a:t> Pollution cost is not fully reflected in market price.</a:t>
            </a:r>
            <a:endParaRPr sz="2000" dirty="0"/>
          </a:p>
        </p:txBody>
      </p:sp>
      <p:pic>
        <p:nvPicPr>
          <p:cNvPr id="367" name="Google Shape;367;p28" descr="image.png"/>
          <p:cNvPicPr preferRelativeResize="0"/>
          <p:nvPr/>
        </p:nvPicPr>
        <p:blipFill rotWithShape="1">
          <a:blip r:embed="rId5">
            <a:alphaModFix/>
          </a:blip>
          <a:srcRect/>
          <a:stretch/>
        </p:blipFill>
        <p:spPr>
          <a:xfrm>
            <a:off x="6381750" y="1793676"/>
            <a:ext cx="5238750" cy="3810000"/>
          </a:xfrm>
          <a:prstGeom prst="rect">
            <a:avLst/>
          </a:prstGeom>
          <a:noFill/>
          <a:ln>
            <a:noFill/>
          </a:ln>
        </p:spPr>
      </p:pic>
      <p:sp>
        <p:nvSpPr>
          <p:cNvPr id="368" name="Google Shape;368;p28"/>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The Economic Foundation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2"/>
        <p:cNvGrpSpPr/>
        <p:nvPr/>
      </p:nvGrpSpPr>
      <p:grpSpPr>
        <a:xfrm>
          <a:off x="0" y="0"/>
          <a:ext cx="0" cy="0"/>
          <a:chOff x="0" y="0"/>
          <a:chExt cx="0" cy="0"/>
        </a:xfrm>
      </p:grpSpPr>
      <p:pic>
        <p:nvPicPr>
          <p:cNvPr id="373" name="Google Shape;373;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74" name="Google Shape;374;p29"/>
          <p:cNvSpPr txBox="1"/>
          <p:nvPr/>
        </p:nvSpPr>
        <p:spPr>
          <a:xfrm>
            <a:off x="571500" y="1411783"/>
            <a:ext cx="110490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Why they matter: Internalize externalities, influence production/consumption, reward cleaner behavior, and discourage pollution.</a:t>
            </a:r>
            <a:endParaRPr sz="1800" dirty="0"/>
          </a:p>
        </p:txBody>
      </p:sp>
      <p:sp>
        <p:nvSpPr>
          <p:cNvPr id="375" name="Google Shape;375;p29"/>
          <p:cNvSpPr/>
          <p:nvPr/>
        </p:nvSpPr>
        <p:spPr>
          <a:xfrm>
            <a:off x="571500" y="2211883"/>
            <a:ext cx="11049000" cy="4110781"/>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76" name="Google Shape;376;p29"/>
          <p:cNvGraphicFramePr/>
          <p:nvPr>
            <p:extLst>
              <p:ext uri="{D42A27DB-BD31-4B8C-83A1-F6EECF244321}">
                <p14:modId xmlns:p14="http://schemas.microsoft.com/office/powerpoint/2010/main" val="3967692806"/>
              </p:ext>
            </p:extLst>
          </p:nvPr>
        </p:nvGraphicFramePr>
        <p:xfrm>
          <a:off x="571500" y="2211883"/>
          <a:ext cx="11049000" cy="4110750"/>
        </p:xfrm>
        <a:graphic>
          <a:graphicData uri="http://schemas.openxmlformats.org/drawingml/2006/table">
            <a:tbl>
              <a:tblPr firstRow="1" bandRow="1">
                <a:noFill/>
                <a:tableStyleId>{82058365-0513-4D1D-80FB-C174D84907BA}</a:tableStyleId>
              </a:tblPr>
              <a:tblGrid>
                <a:gridCol w="3314700">
                  <a:extLst>
                    <a:ext uri="{9D8B030D-6E8A-4147-A177-3AD203B41FA5}">
                      <a16:colId xmlns:a16="http://schemas.microsoft.com/office/drawing/2014/main" val="20000"/>
                    </a:ext>
                  </a:extLst>
                </a:gridCol>
                <a:gridCol w="7734300">
                  <a:extLst>
                    <a:ext uri="{9D8B030D-6E8A-4147-A177-3AD203B41FA5}">
                      <a16:colId xmlns:a16="http://schemas.microsoft.com/office/drawing/2014/main" val="20001"/>
                    </a:ext>
                  </a:extLst>
                </a:gridCol>
              </a:tblGrid>
              <a:tr h="587250">
                <a:tc>
                  <a:txBody>
                    <a:bodyPr/>
                    <a:lstStyle/>
                    <a:p>
                      <a:pPr marL="0" marR="0" lvl="0" indent="0" algn="l" rtl="0">
                        <a:spcBef>
                          <a:spcPts val="0"/>
                        </a:spcBef>
                        <a:spcAft>
                          <a:spcPts val="0"/>
                        </a:spcAft>
                        <a:buNone/>
                      </a:pPr>
                      <a:r>
                        <a:rPr lang="en-US" sz="1800" b="1" i="0" u="none" strike="noStrike" cap="none" dirty="0">
                          <a:solidFill>
                            <a:srgbClr val="FFFFFF"/>
                          </a:solidFill>
                          <a:latin typeface="Merriweather"/>
                          <a:ea typeface="Merriweather"/>
                          <a:cs typeface="Merriweather"/>
                          <a:sym typeface="Merriweather"/>
                        </a:rPr>
                        <a:t>Instrument Type</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tc>
                  <a:txBody>
                    <a:bodyPr/>
                    <a:lstStyle/>
                    <a:p>
                      <a:pPr marL="0" marR="0" lvl="0" indent="0" algn="l" rtl="0">
                        <a:spcBef>
                          <a:spcPts val="0"/>
                        </a:spcBef>
                        <a:spcAft>
                          <a:spcPts val="0"/>
                        </a:spcAft>
                        <a:buNone/>
                      </a:pPr>
                      <a:r>
                        <a:rPr lang="en-US" sz="1800" b="1" i="0" u="none" strike="noStrike" cap="none" dirty="0">
                          <a:solidFill>
                            <a:srgbClr val="FFFFFF"/>
                          </a:solidFill>
                          <a:latin typeface="Merriweather"/>
                          <a:ea typeface="Merriweather"/>
                          <a:cs typeface="Merriweather"/>
                          <a:sym typeface="Merriweather"/>
                        </a:rPr>
                        <a:t>Simple Example / Application</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extLst>
                  <a:ext uri="{0D108BD9-81ED-4DB2-BD59-A6C34878D82A}">
                    <a16:rowId xmlns:a16="http://schemas.microsoft.com/office/drawing/2014/main" val="10000"/>
                  </a:ext>
                </a:extLst>
              </a:tr>
              <a:tr h="58725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Pollution Taxes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Carbon tax, fuel tax.</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8725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Fees and Charges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Wastewater discharge fee.</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8725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Subsidies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Financial support for adopting cleaner production methods.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8725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Deposit–Refund Systems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Bottle return system to encourage recycling.</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58725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Liability Systems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The polluter must pay compensation for environmental damage.</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8725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Environmental Funds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Dedicated financial support for environmental projects.</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6"/>
                  </a:ext>
                </a:extLst>
              </a:tr>
            </a:tbl>
          </a:graphicData>
        </a:graphic>
      </p:graphicFrame>
      <p:sp>
        <p:nvSpPr>
          <p:cNvPr id="377" name="Google Shape;377;p29"/>
          <p:cNvSpPr/>
          <p:nvPr/>
        </p:nvSpPr>
        <p:spPr>
          <a:xfrm>
            <a:off x="571500" y="2786211"/>
            <a:ext cx="3314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9"/>
          <p:cNvSpPr/>
          <p:nvPr/>
        </p:nvSpPr>
        <p:spPr>
          <a:xfrm>
            <a:off x="3886200" y="2786211"/>
            <a:ext cx="77343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9" name="Google Shape;379;p29"/>
          <p:cNvSpPr/>
          <p:nvPr/>
        </p:nvSpPr>
        <p:spPr>
          <a:xfrm>
            <a:off x="571500" y="3374826"/>
            <a:ext cx="3314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0" name="Google Shape;380;p29"/>
          <p:cNvSpPr/>
          <p:nvPr/>
        </p:nvSpPr>
        <p:spPr>
          <a:xfrm>
            <a:off x="3886200" y="3374826"/>
            <a:ext cx="77343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1" name="Google Shape;381;p29"/>
          <p:cNvSpPr/>
          <p:nvPr/>
        </p:nvSpPr>
        <p:spPr>
          <a:xfrm>
            <a:off x="571500" y="3963441"/>
            <a:ext cx="3314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2" name="Google Shape;382;p29"/>
          <p:cNvSpPr/>
          <p:nvPr/>
        </p:nvSpPr>
        <p:spPr>
          <a:xfrm>
            <a:off x="3886200" y="3963441"/>
            <a:ext cx="77343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3" name="Google Shape;383;p29"/>
          <p:cNvSpPr/>
          <p:nvPr/>
        </p:nvSpPr>
        <p:spPr>
          <a:xfrm>
            <a:off x="571500" y="4552057"/>
            <a:ext cx="3314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4" name="Google Shape;384;p29"/>
          <p:cNvSpPr/>
          <p:nvPr/>
        </p:nvSpPr>
        <p:spPr>
          <a:xfrm>
            <a:off x="3886200" y="4552057"/>
            <a:ext cx="77343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5" name="Google Shape;385;p29"/>
          <p:cNvSpPr/>
          <p:nvPr/>
        </p:nvSpPr>
        <p:spPr>
          <a:xfrm>
            <a:off x="571500" y="5140672"/>
            <a:ext cx="3314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6" name="Google Shape;386;p29"/>
          <p:cNvSpPr/>
          <p:nvPr/>
        </p:nvSpPr>
        <p:spPr>
          <a:xfrm>
            <a:off x="3886200" y="5140672"/>
            <a:ext cx="77343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7" name="Google Shape;387;p29"/>
          <p:cNvSpPr/>
          <p:nvPr/>
        </p:nvSpPr>
        <p:spPr>
          <a:xfrm>
            <a:off x="571500" y="5729287"/>
            <a:ext cx="3314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8" name="Google Shape;388;p29"/>
          <p:cNvSpPr/>
          <p:nvPr/>
        </p:nvSpPr>
        <p:spPr>
          <a:xfrm>
            <a:off x="3886200" y="5729287"/>
            <a:ext cx="77343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9" name="Google Shape;389;p29"/>
          <p:cNvSpPr txBox="1"/>
          <p:nvPr/>
        </p:nvSpPr>
        <p:spPr>
          <a:xfrm>
            <a:off x="571500" y="535483"/>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Main Economic Instruments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3"/>
        <p:cNvGrpSpPr/>
        <p:nvPr/>
      </p:nvGrpSpPr>
      <p:grpSpPr>
        <a:xfrm>
          <a:off x="0" y="0"/>
          <a:ext cx="0" cy="0"/>
          <a:chOff x="0" y="0"/>
          <a:chExt cx="0" cy="0"/>
        </a:xfrm>
      </p:grpSpPr>
      <p:pic>
        <p:nvPicPr>
          <p:cNvPr id="394" name="Google Shape;394;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95" name="Google Shape;395;p30" descr="image.png"/>
          <p:cNvPicPr preferRelativeResize="0"/>
          <p:nvPr/>
        </p:nvPicPr>
        <p:blipFill rotWithShape="1">
          <a:blip r:embed="rId4">
            <a:alphaModFix/>
          </a:blip>
          <a:srcRect/>
          <a:stretch/>
        </p:blipFill>
        <p:spPr>
          <a:xfrm>
            <a:off x="561975" y="2328951"/>
            <a:ext cx="5238750" cy="2706885"/>
          </a:xfrm>
          <a:prstGeom prst="rect">
            <a:avLst/>
          </a:prstGeom>
          <a:noFill/>
          <a:ln>
            <a:noFill/>
          </a:ln>
        </p:spPr>
      </p:pic>
      <p:sp>
        <p:nvSpPr>
          <p:cNvPr id="396" name="Google Shape;396;p30"/>
          <p:cNvSpPr txBox="1"/>
          <p:nvPr/>
        </p:nvSpPr>
        <p:spPr>
          <a:xfrm>
            <a:off x="1047750" y="2470134"/>
            <a:ext cx="4880610"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Case Options</a:t>
            </a:r>
            <a:endParaRPr dirty="0"/>
          </a:p>
        </p:txBody>
      </p:sp>
      <p:sp>
        <p:nvSpPr>
          <p:cNvPr id="397" name="Google Shape;397;p30"/>
          <p:cNvSpPr txBox="1"/>
          <p:nvPr/>
        </p:nvSpPr>
        <p:spPr>
          <a:xfrm>
            <a:off x="6381750" y="2513707"/>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Group Discussion</a:t>
            </a:r>
            <a:endParaRPr/>
          </a:p>
        </p:txBody>
      </p:sp>
      <p:sp>
        <p:nvSpPr>
          <p:cNvPr id="398" name="Google Shape;398;p30"/>
          <p:cNvSpPr txBox="1"/>
          <p:nvPr/>
        </p:nvSpPr>
        <p:spPr>
          <a:xfrm>
            <a:off x="6381750" y="2999482"/>
            <a:ext cx="52387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For your selected case, answer the following:</a:t>
            </a:r>
            <a:endParaRPr sz="2000" dirty="0"/>
          </a:p>
        </p:txBody>
      </p:sp>
      <p:sp>
        <p:nvSpPr>
          <p:cNvPr id="399" name="Google Shape;399;p30"/>
          <p:cNvSpPr txBox="1"/>
          <p:nvPr/>
        </p:nvSpPr>
        <p:spPr>
          <a:xfrm>
            <a:off x="1047750" y="329380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00" name="Google Shape;400;p30"/>
          <p:cNvSpPr txBox="1"/>
          <p:nvPr/>
        </p:nvSpPr>
        <p:spPr>
          <a:xfrm>
            <a:off x="1104900" y="3052292"/>
            <a:ext cx="44100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Plastic bottles on campus</a:t>
            </a:r>
            <a:endParaRPr sz="2000" dirty="0"/>
          </a:p>
        </p:txBody>
      </p:sp>
      <p:sp>
        <p:nvSpPr>
          <p:cNvPr id="401" name="Google Shape;401;p30"/>
          <p:cNvSpPr txBox="1"/>
          <p:nvPr/>
        </p:nvSpPr>
        <p:spPr>
          <a:xfrm>
            <a:off x="1047750" y="3682394"/>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02" name="Google Shape;402;p30"/>
          <p:cNvSpPr txBox="1"/>
          <p:nvPr/>
        </p:nvSpPr>
        <p:spPr>
          <a:xfrm>
            <a:off x="1104900" y="3440882"/>
            <a:ext cx="44100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Wastewater from a factory</a:t>
            </a:r>
            <a:endParaRPr sz="2000"/>
          </a:p>
        </p:txBody>
      </p:sp>
      <p:sp>
        <p:nvSpPr>
          <p:cNvPr id="403" name="Google Shape;403;p30"/>
          <p:cNvSpPr txBox="1"/>
          <p:nvPr/>
        </p:nvSpPr>
        <p:spPr>
          <a:xfrm>
            <a:off x="1047750" y="4070985"/>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04" name="Google Shape;404;p30"/>
          <p:cNvSpPr txBox="1"/>
          <p:nvPr/>
        </p:nvSpPr>
        <p:spPr>
          <a:xfrm>
            <a:off x="1104900" y="3829472"/>
            <a:ext cx="44100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Rice straw burning</a:t>
            </a:r>
            <a:endParaRPr sz="2000"/>
          </a:p>
        </p:txBody>
      </p:sp>
      <p:sp>
        <p:nvSpPr>
          <p:cNvPr id="405" name="Google Shape;405;p30"/>
          <p:cNvSpPr txBox="1"/>
          <p:nvPr/>
        </p:nvSpPr>
        <p:spPr>
          <a:xfrm>
            <a:off x="1047750" y="4459575"/>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06" name="Google Shape;406;p30"/>
          <p:cNvSpPr txBox="1"/>
          <p:nvPr/>
        </p:nvSpPr>
        <p:spPr>
          <a:xfrm>
            <a:off x="1104900" y="4192881"/>
            <a:ext cx="441007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Illegal dumping in a tourist area</a:t>
            </a:r>
            <a:endParaRPr sz="2000"/>
          </a:p>
        </p:txBody>
      </p:sp>
      <p:sp>
        <p:nvSpPr>
          <p:cNvPr id="408" name="Google Shape;408;p30"/>
          <p:cNvSpPr txBox="1"/>
          <p:nvPr/>
        </p:nvSpPr>
        <p:spPr>
          <a:xfrm>
            <a:off x="6381750" y="3460771"/>
            <a:ext cx="5238750" cy="276999"/>
          </a:xfrm>
          <a:prstGeom prst="rect">
            <a:avLst/>
          </a:prstGeom>
          <a:noFill/>
          <a:ln>
            <a:noFill/>
          </a:ln>
        </p:spPr>
        <p:txBody>
          <a:bodyPr spcFirstLastPara="1" wrap="square" lIns="9525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Which economic instrument is most suitable?</a:t>
            </a:r>
            <a:endParaRPr sz="2000" dirty="0"/>
          </a:p>
        </p:txBody>
      </p:sp>
      <p:sp>
        <p:nvSpPr>
          <p:cNvPr id="410" name="Google Shape;410;p30"/>
          <p:cNvSpPr txBox="1"/>
          <p:nvPr/>
        </p:nvSpPr>
        <p:spPr>
          <a:xfrm>
            <a:off x="6372225" y="3958619"/>
            <a:ext cx="5426773" cy="276999"/>
          </a:xfrm>
          <a:prstGeom prst="rect">
            <a:avLst/>
          </a:prstGeom>
          <a:noFill/>
          <a:ln>
            <a:noFill/>
          </a:ln>
        </p:spPr>
        <p:txBody>
          <a:bodyPr spcFirstLastPara="1" wrap="square" lIns="13335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Why?</a:t>
            </a:r>
            <a:r>
              <a:rPr lang="en-US" sz="1800" b="0" i="0" u="none" strike="noStrike" cap="none" dirty="0">
                <a:solidFill>
                  <a:srgbClr val="334155"/>
                </a:solidFill>
                <a:latin typeface="DM Sans"/>
                <a:ea typeface="DM Sans"/>
                <a:cs typeface="DM Sans"/>
                <a:sym typeface="DM Sans"/>
              </a:rPr>
              <a:t> Provide justification based on incentives.</a:t>
            </a:r>
            <a:endParaRPr sz="2000" dirty="0"/>
          </a:p>
        </p:txBody>
      </p:sp>
      <p:sp>
        <p:nvSpPr>
          <p:cNvPr id="412" name="Google Shape;412;p30"/>
          <p:cNvSpPr txBox="1"/>
          <p:nvPr/>
        </p:nvSpPr>
        <p:spPr>
          <a:xfrm>
            <a:off x="6381750" y="4419068"/>
            <a:ext cx="5130546" cy="553998"/>
          </a:xfrm>
          <a:prstGeom prst="rect">
            <a:avLst/>
          </a:prstGeom>
          <a:noFill/>
          <a:ln>
            <a:noFill/>
          </a:ln>
        </p:spPr>
        <p:txBody>
          <a:bodyPr spcFirstLastPara="1" wrap="square" lIns="142875"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What are its possible weaknesses?</a:t>
            </a:r>
            <a:r>
              <a:rPr lang="en-US" sz="1800" b="0" i="0" u="none" strike="noStrike" cap="none" dirty="0">
                <a:solidFill>
                  <a:srgbClr val="334155"/>
                </a:solidFill>
                <a:latin typeface="DM Sans"/>
                <a:ea typeface="DM Sans"/>
                <a:cs typeface="DM Sans"/>
                <a:sym typeface="DM Sans"/>
              </a:rPr>
              <a:t> Consider enforcement, cost, or loopholes.</a:t>
            </a:r>
            <a:endParaRPr sz="2000" dirty="0"/>
          </a:p>
        </p:txBody>
      </p:sp>
      <p:sp>
        <p:nvSpPr>
          <p:cNvPr id="413" name="Google Shape;413;p30"/>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Class Activity: Choose the Best Instrument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pic>
        <p:nvPicPr>
          <p:cNvPr id="418" name="Google Shape;418;p31" descr="image.png"/>
          <p:cNvPicPr preferRelativeResize="0"/>
          <p:nvPr/>
        </p:nvPicPr>
        <p:blipFill rotWithShape="1">
          <a:blip r:embed="rId3">
            <a:alphaModFix/>
          </a:blip>
          <a:srcRect/>
          <a:stretch/>
        </p:blipFill>
        <p:spPr>
          <a:xfrm>
            <a:off x="19050" y="-29570"/>
            <a:ext cx="12192000" cy="6858000"/>
          </a:xfrm>
          <a:prstGeom prst="rect">
            <a:avLst/>
          </a:prstGeom>
          <a:noFill/>
          <a:ln>
            <a:noFill/>
          </a:ln>
        </p:spPr>
      </p:pic>
      <p:pic>
        <p:nvPicPr>
          <p:cNvPr id="419" name="Google Shape;419;p31" descr="image.png"/>
          <p:cNvPicPr preferRelativeResize="0"/>
          <p:nvPr/>
        </p:nvPicPr>
        <p:blipFill rotWithShape="1">
          <a:blip r:embed="rId4">
            <a:alphaModFix/>
          </a:blip>
          <a:srcRect/>
          <a:stretch/>
        </p:blipFill>
        <p:spPr>
          <a:xfrm>
            <a:off x="6381750" y="1162198"/>
            <a:ext cx="5238750" cy="3810000"/>
          </a:xfrm>
          <a:prstGeom prst="rect">
            <a:avLst/>
          </a:prstGeom>
          <a:noFill/>
          <a:ln>
            <a:noFill/>
          </a:ln>
        </p:spPr>
      </p:pic>
      <p:sp>
        <p:nvSpPr>
          <p:cNvPr id="420" name="Google Shape;420;p31"/>
          <p:cNvSpPr txBox="1"/>
          <p:nvPr/>
        </p:nvSpPr>
        <p:spPr>
          <a:xfrm>
            <a:off x="571500" y="1162198"/>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Legal Framework &amp; Scope</a:t>
            </a:r>
            <a:endParaRPr/>
          </a:p>
        </p:txBody>
      </p:sp>
      <p:sp>
        <p:nvSpPr>
          <p:cNvPr id="423" name="Google Shape;423;p31"/>
          <p:cNvSpPr txBox="1"/>
          <p:nvPr/>
        </p:nvSpPr>
        <p:spPr>
          <a:xfrm>
            <a:off x="752475" y="1647021"/>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24" name="Google Shape;424;p31"/>
          <p:cNvSpPr txBox="1"/>
          <p:nvPr/>
        </p:nvSpPr>
        <p:spPr>
          <a:xfrm>
            <a:off x="821530" y="1727745"/>
            <a:ext cx="5000625" cy="615553"/>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0" i="0" u="none" strike="noStrike" cap="none" dirty="0">
                <a:solidFill>
                  <a:srgbClr val="334155"/>
                </a:solidFill>
                <a:latin typeface="DM Sans"/>
                <a:ea typeface="DM Sans"/>
                <a:cs typeface="DM Sans"/>
                <a:sym typeface="DM Sans"/>
              </a:rPr>
              <a:t>Regulates relationships between all environmental actors.</a:t>
            </a:r>
            <a:endParaRPr sz="2400" dirty="0"/>
          </a:p>
        </p:txBody>
      </p:sp>
      <p:sp>
        <p:nvSpPr>
          <p:cNvPr id="425" name="Google Shape;425;p31"/>
          <p:cNvSpPr txBox="1"/>
          <p:nvPr/>
        </p:nvSpPr>
        <p:spPr>
          <a:xfrm>
            <a:off x="752475" y="2035611"/>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26" name="Google Shape;426;p31"/>
          <p:cNvSpPr txBox="1"/>
          <p:nvPr/>
        </p:nvSpPr>
        <p:spPr>
          <a:xfrm>
            <a:off x="821530" y="2451645"/>
            <a:ext cx="5000625" cy="615553"/>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0" i="0" u="none" strike="noStrike" cap="none" dirty="0">
                <a:solidFill>
                  <a:srgbClr val="334155"/>
                </a:solidFill>
                <a:latin typeface="DM Sans"/>
                <a:ea typeface="DM Sans"/>
                <a:cs typeface="DM Sans"/>
                <a:sym typeface="DM Sans"/>
              </a:rPr>
              <a:t>Provides standards, rights, duties, and sanctions.</a:t>
            </a:r>
            <a:endParaRPr sz="2400" dirty="0"/>
          </a:p>
        </p:txBody>
      </p:sp>
      <p:sp>
        <p:nvSpPr>
          <p:cNvPr id="427" name="Google Shape;427;p31"/>
          <p:cNvSpPr txBox="1"/>
          <p:nvPr/>
        </p:nvSpPr>
        <p:spPr>
          <a:xfrm>
            <a:off x="752475" y="2424201"/>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28" name="Google Shape;428;p31"/>
          <p:cNvSpPr txBox="1"/>
          <p:nvPr/>
        </p:nvSpPr>
        <p:spPr>
          <a:xfrm>
            <a:off x="821530" y="3263495"/>
            <a:ext cx="5000625" cy="615553"/>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2000" b="0" i="0" u="none" strike="noStrike" cap="none" dirty="0">
                <a:solidFill>
                  <a:srgbClr val="334155"/>
                </a:solidFill>
                <a:latin typeface="DM Sans"/>
                <a:ea typeface="DM Sans"/>
                <a:cs typeface="DM Sans"/>
                <a:sym typeface="DM Sans"/>
              </a:rPr>
              <a:t>Both International and Domestic laws matter.</a:t>
            </a:r>
            <a:endParaRPr sz="2400" dirty="0"/>
          </a:p>
        </p:txBody>
      </p:sp>
      <p:pic>
        <p:nvPicPr>
          <p:cNvPr id="441" name="Google Shape;441;p31" descr="image.png"/>
          <p:cNvPicPr preferRelativeResize="0"/>
          <p:nvPr/>
        </p:nvPicPr>
        <p:blipFill rotWithShape="1">
          <a:blip r:embed="rId5">
            <a:alphaModFix/>
          </a:blip>
          <a:srcRect/>
          <a:stretch/>
        </p:blipFill>
        <p:spPr>
          <a:xfrm>
            <a:off x="6381750" y="1162198"/>
            <a:ext cx="5238750" cy="3810000"/>
          </a:xfrm>
          <a:prstGeom prst="rect">
            <a:avLst/>
          </a:prstGeom>
          <a:noFill/>
          <a:ln>
            <a:noFill/>
          </a:ln>
        </p:spPr>
      </p:pic>
      <p:sp>
        <p:nvSpPr>
          <p:cNvPr id="442" name="Google Shape;442;p31"/>
          <p:cNvSpPr txBox="1"/>
          <p:nvPr/>
        </p:nvSpPr>
        <p:spPr>
          <a:xfrm>
            <a:off x="571500" y="285898"/>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The Legal Foundation of EM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pic>
        <p:nvPicPr>
          <p:cNvPr id="418" name="Google Shape;418;p31" descr="image.png"/>
          <p:cNvPicPr preferRelativeResize="0"/>
          <p:nvPr/>
        </p:nvPicPr>
        <p:blipFill rotWithShape="1">
          <a:blip r:embed="rId3">
            <a:alphaModFix/>
          </a:blip>
          <a:srcRect/>
          <a:stretch/>
        </p:blipFill>
        <p:spPr>
          <a:xfrm>
            <a:off x="-19050" y="-64008"/>
            <a:ext cx="12192000" cy="6858000"/>
          </a:xfrm>
          <a:prstGeom prst="rect">
            <a:avLst/>
          </a:prstGeom>
          <a:noFill/>
          <a:ln>
            <a:noFill/>
          </a:ln>
        </p:spPr>
      </p:pic>
      <p:pic>
        <p:nvPicPr>
          <p:cNvPr id="419" name="Google Shape;419;p31" descr="image.png"/>
          <p:cNvPicPr preferRelativeResize="0"/>
          <p:nvPr/>
        </p:nvPicPr>
        <p:blipFill rotWithShape="1">
          <a:blip r:embed="rId4">
            <a:alphaModFix/>
          </a:blip>
          <a:srcRect/>
          <a:stretch/>
        </p:blipFill>
        <p:spPr>
          <a:xfrm>
            <a:off x="6381750" y="1162198"/>
            <a:ext cx="5238750" cy="3810000"/>
          </a:xfrm>
          <a:prstGeom prst="rect">
            <a:avLst/>
          </a:prstGeom>
          <a:noFill/>
          <a:ln>
            <a:noFill/>
          </a:ln>
        </p:spPr>
      </p:pic>
      <p:sp>
        <p:nvSpPr>
          <p:cNvPr id="421" name="Google Shape;421;p31"/>
          <p:cNvSpPr txBox="1"/>
          <p:nvPr/>
        </p:nvSpPr>
        <p:spPr>
          <a:xfrm>
            <a:off x="726281" y="1268340"/>
            <a:ext cx="5500687"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047857"/>
                </a:solidFill>
                <a:latin typeface="Merriweather"/>
                <a:ea typeface="Merriweather"/>
                <a:cs typeface="Merriweather"/>
                <a:sym typeface="Merriweather"/>
              </a:rPr>
              <a:t>International Law</a:t>
            </a:r>
            <a:endParaRPr sz="1600" dirty="0"/>
          </a:p>
        </p:txBody>
      </p:sp>
      <p:sp>
        <p:nvSpPr>
          <p:cNvPr id="430" name="Google Shape;430;p31"/>
          <p:cNvSpPr txBox="1"/>
          <p:nvPr/>
        </p:nvSpPr>
        <p:spPr>
          <a:xfrm>
            <a:off x="964406" y="1754115"/>
            <a:ext cx="500062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334155"/>
                </a:solidFill>
                <a:latin typeface="DM Sans"/>
                <a:ea typeface="DM Sans"/>
                <a:cs typeface="DM Sans"/>
                <a:sym typeface="DM Sans"/>
              </a:rPr>
              <a:t>Treaties and conventions</a:t>
            </a:r>
            <a:endParaRPr sz="2000" dirty="0"/>
          </a:p>
        </p:txBody>
      </p:sp>
      <p:sp>
        <p:nvSpPr>
          <p:cNvPr id="432" name="Google Shape;432;p31"/>
          <p:cNvSpPr txBox="1"/>
          <p:nvPr/>
        </p:nvSpPr>
        <p:spPr>
          <a:xfrm>
            <a:off x="964406" y="2142705"/>
            <a:ext cx="500062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4155"/>
                </a:solidFill>
                <a:latin typeface="DM Sans"/>
                <a:ea typeface="DM Sans"/>
                <a:cs typeface="DM Sans"/>
                <a:sym typeface="DM Sans"/>
              </a:rPr>
              <a:t>Customary law &amp; Judicial decisions</a:t>
            </a:r>
            <a:endParaRPr sz="2000"/>
          </a:p>
        </p:txBody>
      </p:sp>
      <p:sp>
        <p:nvSpPr>
          <p:cNvPr id="434" name="Google Shape;434;p31"/>
          <p:cNvSpPr txBox="1"/>
          <p:nvPr/>
        </p:nvSpPr>
        <p:spPr>
          <a:xfrm>
            <a:off x="964406" y="2531296"/>
            <a:ext cx="500062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4155"/>
                </a:solidFill>
                <a:latin typeface="DM Sans"/>
                <a:ea typeface="DM Sans"/>
                <a:cs typeface="DM Sans"/>
                <a:sym typeface="DM Sans"/>
              </a:rPr>
              <a:t>Soft law instruments</a:t>
            </a:r>
            <a:endParaRPr sz="2000"/>
          </a:p>
        </p:txBody>
      </p:sp>
      <p:sp>
        <p:nvSpPr>
          <p:cNvPr id="436" name="Google Shape;436;p31"/>
          <p:cNvSpPr txBox="1"/>
          <p:nvPr/>
        </p:nvSpPr>
        <p:spPr>
          <a:xfrm>
            <a:off x="2238375" y="7267164"/>
            <a:ext cx="5000625" cy="274290"/>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DM Sans"/>
                <a:ea typeface="DM Sans"/>
                <a:cs typeface="DM Sans"/>
                <a:sym typeface="DM Sans"/>
              </a:rPr>
              <a:t>Law on Environmental Protection 2020</a:t>
            </a:r>
            <a:endParaRPr/>
          </a:p>
        </p:txBody>
      </p:sp>
      <p:pic>
        <p:nvPicPr>
          <p:cNvPr id="441" name="Google Shape;441;p31" descr="image.png"/>
          <p:cNvPicPr preferRelativeResize="0"/>
          <p:nvPr/>
        </p:nvPicPr>
        <p:blipFill rotWithShape="1">
          <a:blip r:embed="rId5">
            <a:alphaModFix/>
          </a:blip>
          <a:srcRect/>
          <a:stretch/>
        </p:blipFill>
        <p:spPr>
          <a:xfrm>
            <a:off x="6381750" y="1162198"/>
            <a:ext cx="5238750" cy="3810000"/>
          </a:xfrm>
          <a:prstGeom prst="rect">
            <a:avLst/>
          </a:prstGeom>
          <a:noFill/>
          <a:ln>
            <a:noFill/>
          </a:ln>
        </p:spPr>
      </p:pic>
      <p:sp>
        <p:nvSpPr>
          <p:cNvPr id="442" name="Google Shape;442;p31"/>
          <p:cNvSpPr txBox="1"/>
          <p:nvPr/>
        </p:nvSpPr>
        <p:spPr>
          <a:xfrm>
            <a:off x="571500" y="285898"/>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The Legal Foundation of EM</a:t>
            </a:r>
            <a:endParaRPr/>
          </a:p>
        </p:txBody>
      </p:sp>
    </p:spTree>
    <p:extLst>
      <p:ext uri="{BB962C8B-B14F-4D97-AF65-F5344CB8AC3E}">
        <p14:creationId xmlns:p14="http://schemas.microsoft.com/office/powerpoint/2010/main" val="3120823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pic>
        <p:nvPicPr>
          <p:cNvPr id="418" name="Google Shape;418;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19" name="Google Shape;419;p31" descr="image.png"/>
          <p:cNvPicPr preferRelativeResize="0"/>
          <p:nvPr/>
        </p:nvPicPr>
        <p:blipFill rotWithShape="1">
          <a:blip r:embed="rId4">
            <a:alphaModFix/>
          </a:blip>
          <a:srcRect/>
          <a:stretch/>
        </p:blipFill>
        <p:spPr>
          <a:xfrm>
            <a:off x="6381750" y="1162198"/>
            <a:ext cx="5238750" cy="3810000"/>
          </a:xfrm>
          <a:prstGeom prst="rect">
            <a:avLst/>
          </a:prstGeom>
          <a:noFill/>
          <a:ln>
            <a:noFill/>
          </a:ln>
        </p:spPr>
      </p:pic>
      <p:sp>
        <p:nvSpPr>
          <p:cNvPr id="422" name="Google Shape;422;p31"/>
          <p:cNvSpPr txBox="1"/>
          <p:nvPr/>
        </p:nvSpPr>
        <p:spPr>
          <a:xfrm>
            <a:off x="514350" y="1459260"/>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Vietnam's Legal Framework</a:t>
            </a:r>
            <a:endParaRPr dirty="0"/>
          </a:p>
        </p:txBody>
      </p:sp>
      <p:sp>
        <p:nvSpPr>
          <p:cNvPr id="436" name="Google Shape;436;p31"/>
          <p:cNvSpPr txBox="1"/>
          <p:nvPr/>
        </p:nvSpPr>
        <p:spPr>
          <a:xfrm>
            <a:off x="409575" y="2133272"/>
            <a:ext cx="500062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Law on Environmental Protection 2020</a:t>
            </a:r>
            <a:endParaRPr sz="2000" dirty="0"/>
          </a:p>
        </p:txBody>
      </p:sp>
      <p:sp>
        <p:nvSpPr>
          <p:cNvPr id="438" name="Google Shape;438;p31"/>
          <p:cNvSpPr txBox="1"/>
          <p:nvPr/>
        </p:nvSpPr>
        <p:spPr>
          <a:xfrm>
            <a:off x="409575" y="2521862"/>
            <a:ext cx="5000625"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Decree No. 08/2022/ND-CP</a:t>
            </a:r>
            <a:endParaRPr sz="2000"/>
          </a:p>
        </p:txBody>
      </p:sp>
      <p:sp>
        <p:nvSpPr>
          <p:cNvPr id="440" name="Google Shape;440;p31"/>
          <p:cNvSpPr txBox="1"/>
          <p:nvPr/>
        </p:nvSpPr>
        <p:spPr>
          <a:xfrm>
            <a:off x="409575" y="2910452"/>
            <a:ext cx="5000625" cy="553998"/>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Sectoral laws: water, biodiversity, forestry, minerals, marine environment</a:t>
            </a:r>
            <a:endParaRPr sz="2000"/>
          </a:p>
        </p:txBody>
      </p:sp>
      <p:pic>
        <p:nvPicPr>
          <p:cNvPr id="441" name="Google Shape;441;p31" descr="image.png"/>
          <p:cNvPicPr preferRelativeResize="0"/>
          <p:nvPr/>
        </p:nvPicPr>
        <p:blipFill rotWithShape="1">
          <a:blip r:embed="rId5">
            <a:alphaModFix/>
          </a:blip>
          <a:srcRect/>
          <a:stretch/>
        </p:blipFill>
        <p:spPr>
          <a:xfrm>
            <a:off x="6381750" y="1162198"/>
            <a:ext cx="5238750" cy="3810000"/>
          </a:xfrm>
          <a:prstGeom prst="rect">
            <a:avLst/>
          </a:prstGeom>
          <a:noFill/>
          <a:ln>
            <a:noFill/>
          </a:ln>
        </p:spPr>
      </p:pic>
      <p:sp>
        <p:nvSpPr>
          <p:cNvPr id="442" name="Google Shape;442;p31"/>
          <p:cNvSpPr txBox="1"/>
          <p:nvPr/>
        </p:nvSpPr>
        <p:spPr>
          <a:xfrm>
            <a:off x="571500" y="285898"/>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The Legal Foundation of EM</a:t>
            </a:r>
            <a:endParaRPr/>
          </a:p>
        </p:txBody>
      </p:sp>
    </p:spTree>
    <p:extLst>
      <p:ext uri="{BB962C8B-B14F-4D97-AF65-F5344CB8AC3E}">
        <p14:creationId xmlns:p14="http://schemas.microsoft.com/office/powerpoint/2010/main" val="3516402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6"/>
        <p:cNvGrpSpPr/>
        <p:nvPr/>
      </p:nvGrpSpPr>
      <p:grpSpPr>
        <a:xfrm>
          <a:off x="0" y="0"/>
          <a:ext cx="0" cy="0"/>
          <a:chOff x="0" y="0"/>
          <a:chExt cx="0" cy="0"/>
        </a:xfrm>
      </p:grpSpPr>
      <p:pic>
        <p:nvPicPr>
          <p:cNvPr id="447" name="Google Shape;447;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48" name="Google Shape;448;p32"/>
          <p:cNvSpPr txBox="1"/>
          <p:nvPr/>
        </p:nvSpPr>
        <p:spPr>
          <a:xfrm>
            <a:off x="571500" y="1870769"/>
            <a:ext cx="11049000"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a:solidFill>
                  <a:srgbClr val="334155"/>
                </a:solidFill>
                <a:latin typeface="DM Sans"/>
                <a:ea typeface="DM Sans"/>
                <a:cs typeface="DM Sans"/>
                <a:sym typeface="DM Sans"/>
              </a:rPr>
              <a:t>Why legal tools are essential:</a:t>
            </a:r>
            <a:r>
              <a:rPr lang="en-US" sz="2000" b="0" i="0" u="none" strike="noStrike" cap="none" dirty="0">
                <a:solidFill>
                  <a:srgbClr val="334155"/>
                </a:solidFill>
                <a:latin typeface="DM Sans"/>
                <a:ea typeface="DM Sans"/>
                <a:cs typeface="DM Sans"/>
                <a:sym typeface="DM Sans"/>
              </a:rPr>
              <a:t> They make rules mandatory, define acceptable standards, assign responsibilities, create sanctions, and support prevention and accountability.</a:t>
            </a:r>
            <a:endParaRPr sz="2400" dirty="0"/>
          </a:p>
        </p:txBody>
      </p:sp>
      <p:sp>
        <p:nvSpPr>
          <p:cNvPr id="449" name="Google Shape;449;p32"/>
          <p:cNvSpPr/>
          <p:nvPr/>
        </p:nvSpPr>
        <p:spPr>
          <a:xfrm>
            <a:off x="571500" y="3084165"/>
            <a:ext cx="11049000" cy="2304901"/>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450" name="Google Shape;450;p32"/>
          <p:cNvGraphicFramePr/>
          <p:nvPr>
            <p:extLst>
              <p:ext uri="{D42A27DB-BD31-4B8C-83A1-F6EECF244321}">
                <p14:modId xmlns:p14="http://schemas.microsoft.com/office/powerpoint/2010/main" val="1139635164"/>
              </p:ext>
            </p:extLst>
          </p:nvPr>
        </p:nvGraphicFramePr>
        <p:xfrm>
          <a:off x="571500" y="3084165"/>
          <a:ext cx="11049000" cy="2304900"/>
        </p:xfrm>
        <a:graphic>
          <a:graphicData uri="http://schemas.openxmlformats.org/drawingml/2006/table">
            <a:tbl>
              <a:tblPr firstRow="1" bandRow="1">
                <a:noFill/>
                <a:tableStyleId>{82058365-0513-4D1D-80FB-C174D84907BA}</a:tableStyleId>
              </a:tblPr>
              <a:tblGrid>
                <a:gridCol w="276225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143375">
                  <a:extLst>
                    <a:ext uri="{9D8B030D-6E8A-4147-A177-3AD203B41FA5}">
                      <a16:colId xmlns:a16="http://schemas.microsoft.com/office/drawing/2014/main" val="20002"/>
                    </a:ext>
                  </a:extLst>
                </a:gridCol>
              </a:tblGrid>
              <a:tr h="768300">
                <a:tc>
                  <a:txBody>
                    <a:bodyPr/>
                    <a:lstStyle/>
                    <a:p>
                      <a:pPr marL="0" marR="0" lvl="0" indent="0" algn="l" rtl="0">
                        <a:spcBef>
                          <a:spcPts val="0"/>
                        </a:spcBef>
                        <a:spcAft>
                          <a:spcPts val="0"/>
                        </a:spcAft>
                        <a:buNone/>
                      </a:pPr>
                      <a:r>
                        <a:rPr lang="en-US" sz="1800" b="1" i="0" u="none" strike="noStrike" cap="none" dirty="0">
                          <a:solidFill>
                            <a:srgbClr val="FFFFFF"/>
                          </a:solidFill>
                          <a:latin typeface="Merriweather"/>
                          <a:ea typeface="Merriweather"/>
                          <a:cs typeface="Merriweather"/>
                          <a:sym typeface="Merriweather"/>
                        </a:rPr>
                        <a:t>Tool Type</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Strength</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Limitation</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extLst>
                  <a:ext uri="{0D108BD9-81ED-4DB2-BD59-A6C34878D82A}">
                    <a16:rowId xmlns:a16="http://schemas.microsoft.com/office/drawing/2014/main" val="10000"/>
                  </a:ext>
                </a:extLst>
              </a:tr>
              <a:tr h="76830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Legal Tools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Mandatory, clear boundaries, enforceable by state power.</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Rigid, sometimes slow to adapt, costly to enforce continuously.</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6830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Economic Tools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Flexible, incentive-based, encourages continuous improvement.</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Hard to design precisely, may face political/corporate resistance.</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bl>
          </a:graphicData>
        </a:graphic>
      </p:graphicFrame>
      <p:sp>
        <p:nvSpPr>
          <p:cNvPr id="451" name="Google Shape;451;p32"/>
          <p:cNvSpPr/>
          <p:nvPr/>
        </p:nvSpPr>
        <p:spPr>
          <a:xfrm>
            <a:off x="571500" y="3658492"/>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2" name="Google Shape;452;p32"/>
          <p:cNvSpPr/>
          <p:nvPr/>
        </p:nvSpPr>
        <p:spPr>
          <a:xfrm>
            <a:off x="3333750" y="3658492"/>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3" name="Google Shape;453;p32"/>
          <p:cNvSpPr/>
          <p:nvPr/>
        </p:nvSpPr>
        <p:spPr>
          <a:xfrm>
            <a:off x="7477125" y="3658492"/>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4" name="Google Shape;454;p32"/>
          <p:cNvSpPr/>
          <p:nvPr/>
        </p:nvSpPr>
        <p:spPr>
          <a:xfrm>
            <a:off x="571500" y="4521398"/>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5" name="Google Shape;455;p32"/>
          <p:cNvSpPr/>
          <p:nvPr/>
        </p:nvSpPr>
        <p:spPr>
          <a:xfrm>
            <a:off x="3333750" y="4521398"/>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6" name="Google Shape;456;p32"/>
          <p:cNvSpPr/>
          <p:nvPr/>
        </p:nvSpPr>
        <p:spPr>
          <a:xfrm>
            <a:off x="7477125" y="4521398"/>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7" name="Google Shape;457;p32"/>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Comparing Management Tools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1"/>
        <p:cNvGrpSpPr/>
        <p:nvPr/>
      </p:nvGrpSpPr>
      <p:grpSpPr>
        <a:xfrm>
          <a:off x="0" y="0"/>
          <a:ext cx="0" cy="0"/>
          <a:chOff x="0" y="0"/>
          <a:chExt cx="0" cy="0"/>
        </a:xfrm>
      </p:grpSpPr>
      <p:pic>
        <p:nvPicPr>
          <p:cNvPr id="462" name="Google Shape;462;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63" name="Google Shape;463;p33" descr="image.png"/>
          <p:cNvPicPr preferRelativeResize="0"/>
          <p:nvPr/>
        </p:nvPicPr>
        <p:blipFill rotWithShape="1">
          <a:blip r:embed="rId4">
            <a:alphaModFix/>
          </a:blip>
          <a:srcRect/>
          <a:stretch/>
        </p:blipFill>
        <p:spPr>
          <a:xfrm>
            <a:off x="571500" y="2072729"/>
            <a:ext cx="5238750" cy="3588841"/>
          </a:xfrm>
          <a:prstGeom prst="rect">
            <a:avLst/>
          </a:prstGeom>
          <a:noFill/>
          <a:ln>
            <a:noFill/>
          </a:ln>
        </p:spPr>
      </p:pic>
      <p:pic>
        <p:nvPicPr>
          <p:cNvPr id="464" name="Google Shape;464;p33" descr="image.png"/>
          <p:cNvPicPr preferRelativeResize="0"/>
          <p:nvPr/>
        </p:nvPicPr>
        <p:blipFill rotWithShape="1">
          <a:blip r:embed="rId5">
            <a:alphaModFix/>
          </a:blip>
          <a:srcRect/>
          <a:stretch/>
        </p:blipFill>
        <p:spPr>
          <a:xfrm>
            <a:off x="6381750" y="2072729"/>
            <a:ext cx="5238750" cy="3588841"/>
          </a:xfrm>
          <a:prstGeom prst="rect">
            <a:avLst/>
          </a:prstGeom>
          <a:noFill/>
          <a:ln>
            <a:noFill/>
          </a:ln>
        </p:spPr>
      </p:pic>
      <p:sp>
        <p:nvSpPr>
          <p:cNvPr id="465" name="Google Shape;465;p33"/>
          <p:cNvSpPr txBox="1"/>
          <p:nvPr/>
        </p:nvSpPr>
        <p:spPr>
          <a:xfrm>
            <a:off x="962025" y="2463254"/>
            <a:ext cx="4680585"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0B981"/>
                </a:solidFill>
                <a:latin typeface="Merriweather"/>
                <a:ea typeface="Merriweather"/>
                <a:cs typeface="Merriweather"/>
                <a:sym typeface="Merriweather"/>
              </a:rPr>
              <a:t>The Ultimate Strategy</a:t>
            </a:r>
            <a:endParaRPr/>
          </a:p>
        </p:txBody>
      </p:sp>
      <p:sp>
        <p:nvSpPr>
          <p:cNvPr id="466" name="Google Shape;466;p33"/>
          <p:cNvSpPr txBox="1"/>
          <p:nvPr/>
        </p:nvSpPr>
        <p:spPr>
          <a:xfrm>
            <a:off x="962025" y="2949029"/>
            <a:ext cx="44577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1F5F9"/>
                </a:solidFill>
                <a:latin typeface="DM Sans"/>
                <a:ea typeface="DM Sans"/>
                <a:cs typeface="DM Sans"/>
                <a:sym typeface="DM Sans"/>
              </a:rPr>
              <a:t>The best environmental management usually combines:</a:t>
            </a:r>
            <a:endParaRPr sz="2000"/>
          </a:p>
        </p:txBody>
      </p:sp>
      <p:sp>
        <p:nvSpPr>
          <p:cNvPr id="467" name="Google Shape;467;p33"/>
          <p:cNvSpPr txBox="1"/>
          <p:nvPr/>
        </p:nvSpPr>
        <p:spPr>
          <a:xfrm>
            <a:off x="6772275" y="2463254"/>
            <a:ext cx="4680585"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Final Group Challenge</a:t>
            </a:r>
            <a:endParaRPr/>
          </a:p>
        </p:txBody>
      </p:sp>
      <p:sp>
        <p:nvSpPr>
          <p:cNvPr id="468" name="Google Shape;468;p33"/>
          <p:cNvSpPr txBox="1"/>
          <p:nvPr/>
        </p:nvSpPr>
        <p:spPr>
          <a:xfrm>
            <a:off x="6772275" y="2949029"/>
            <a:ext cx="445770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34155"/>
                </a:solidFill>
                <a:latin typeface="DM Sans"/>
                <a:ea typeface="DM Sans"/>
                <a:cs typeface="DM Sans"/>
                <a:sym typeface="DM Sans"/>
              </a:rPr>
              <a:t>Scenario-based exercise.</a:t>
            </a:r>
            <a:r>
              <a:rPr lang="en-US" sz="1800" b="0" i="0" u="none" strike="noStrike" cap="none" dirty="0">
                <a:solidFill>
                  <a:srgbClr val="334155"/>
                </a:solidFill>
                <a:latin typeface="DM Sans"/>
                <a:ea typeface="DM Sans"/>
                <a:cs typeface="DM Sans"/>
                <a:sym typeface="DM Sans"/>
              </a:rPr>
              <a:t> For a given scenario, choose:</a:t>
            </a:r>
            <a:endParaRPr sz="2000" dirty="0"/>
          </a:p>
        </p:txBody>
      </p:sp>
      <p:sp>
        <p:nvSpPr>
          <p:cNvPr id="469" name="Google Shape;469;p33"/>
          <p:cNvSpPr txBox="1"/>
          <p:nvPr/>
        </p:nvSpPr>
        <p:spPr>
          <a:xfrm>
            <a:off x="1143000" y="336524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70" name="Google Shape;470;p33"/>
          <p:cNvSpPr txBox="1"/>
          <p:nvPr/>
        </p:nvSpPr>
        <p:spPr>
          <a:xfrm>
            <a:off x="1200150" y="3761317"/>
            <a:ext cx="4219500"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chemeClr val="lt1"/>
                </a:solidFill>
                <a:latin typeface="DM Sans"/>
                <a:ea typeface="DM Sans"/>
                <a:cs typeface="DM Sans"/>
                <a:sym typeface="DM Sans"/>
              </a:rPr>
              <a:t>Legal tools</a:t>
            </a:r>
            <a:endParaRPr sz="2000">
              <a:solidFill>
                <a:schemeClr val="lt1"/>
              </a:solidFill>
            </a:endParaRPr>
          </a:p>
        </p:txBody>
      </p:sp>
      <p:sp>
        <p:nvSpPr>
          <p:cNvPr id="471" name="Google Shape;471;p33"/>
          <p:cNvSpPr txBox="1"/>
          <p:nvPr/>
        </p:nvSpPr>
        <p:spPr>
          <a:xfrm>
            <a:off x="1143000" y="375383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72" name="Google Shape;472;p33"/>
          <p:cNvSpPr txBox="1"/>
          <p:nvPr/>
        </p:nvSpPr>
        <p:spPr>
          <a:xfrm>
            <a:off x="1200150" y="4149907"/>
            <a:ext cx="4219500"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chemeClr val="lt1"/>
                </a:solidFill>
                <a:latin typeface="DM Sans"/>
                <a:ea typeface="DM Sans"/>
                <a:cs typeface="DM Sans"/>
                <a:sym typeface="DM Sans"/>
              </a:rPr>
              <a:t>Economic tools</a:t>
            </a:r>
            <a:endParaRPr sz="2000">
              <a:solidFill>
                <a:schemeClr val="lt1"/>
              </a:solidFill>
            </a:endParaRPr>
          </a:p>
        </p:txBody>
      </p:sp>
      <p:sp>
        <p:nvSpPr>
          <p:cNvPr id="473" name="Google Shape;473;p33"/>
          <p:cNvSpPr txBox="1"/>
          <p:nvPr/>
        </p:nvSpPr>
        <p:spPr>
          <a:xfrm>
            <a:off x="1143000" y="414242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74" name="Google Shape;474;p33"/>
          <p:cNvSpPr txBox="1"/>
          <p:nvPr/>
        </p:nvSpPr>
        <p:spPr>
          <a:xfrm>
            <a:off x="1200150" y="4538498"/>
            <a:ext cx="4219500"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a:solidFill>
                  <a:schemeClr val="lt1"/>
                </a:solidFill>
                <a:latin typeface="DM Sans"/>
                <a:ea typeface="DM Sans"/>
                <a:cs typeface="DM Sans"/>
                <a:sym typeface="DM Sans"/>
              </a:rPr>
              <a:t>Technical tools</a:t>
            </a:r>
            <a:endParaRPr sz="2000">
              <a:solidFill>
                <a:schemeClr val="lt1"/>
              </a:solidFill>
            </a:endParaRPr>
          </a:p>
        </p:txBody>
      </p:sp>
      <p:sp>
        <p:nvSpPr>
          <p:cNvPr id="475" name="Google Shape;475;p33"/>
          <p:cNvSpPr txBox="1"/>
          <p:nvPr/>
        </p:nvSpPr>
        <p:spPr>
          <a:xfrm>
            <a:off x="1143000" y="453101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76" name="Google Shape;476;p33"/>
          <p:cNvSpPr txBox="1"/>
          <p:nvPr/>
        </p:nvSpPr>
        <p:spPr>
          <a:xfrm>
            <a:off x="1200150" y="4927088"/>
            <a:ext cx="4219500" cy="276999"/>
          </a:xfrm>
          <a:prstGeom prst="rect">
            <a:avLst/>
          </a:prstGeom>
          <a:noFill/>
          <a:ln>
            <a:noFill/>
          </a:ln>
        </p:spPr>
        <p:txBody>
          <a:bodyPr spcFirstLastPara="1" wrap="square" lIns="57150" tIns="0" rIns="0" bIns="0" anchor="t" anchorCtr="0">
            <a:spAutoFit/>
          </a:bodyPr>
          <a:lstStyle/>
          <a:p>
            <a:pPr marL="0" marR="0" lvl="0" indent="0" algn="l" rtl="0">
              <a:spcBef>
                <a:spcPts val="0"/>
              </a:spcBef>
              <a:spcAft>
                <a:spcPts val="0"/>
              </a:spcAft>
              <a:buNone/>
            </a:pPr>
            <a:r>
              <a:rPr lang="en-US" sz="1800" b="0" i="0" u="none" strike="noStrike" cap="none" dirty="0">
                <a:solidFill>
                  <a:schemeClr val="lt1"/>
                </a:solidFill>
                <a:latin typeface="DM Sans"/>
                <a:ea typeface="DM Sans"/>
                <a:cs typeface="DM Sans"/>
                <a:sym typeface="DM Sans"/>
              </a:rPr>
              <a:t>Supportive tools</a:t>
            </a:r>
            <a:endParaRPr sz="2000" dirty="0">
              <a:solidFill>
                <a:schemeClr val="lt1"/>
              </a:solidFill>
            </a:endParaRPr>
          </a:p>
        </p:txBody>
      </p:sp>
      <p:sp>
        <p:nvSpPr>
          <p:cNvPr id="477" name="Google Shape;477;p33"/>
          <p:cNvSpPr txBox="1"/>
          <p:nvPr/>
        </p:nvSpPr>
        <p:spPr>
          <a:xfrm>
            <a:off x="6953250" y="363953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78" name="Google Shape;478;p33"/>
          <p:cNvSpPr txBox="1"/>
          <p:nvPr/>
        </p:nvSpPr>
        <p:spPr>
          <a:xfrm>
            <a:off x="7120128" y="3472558"/>
            <a:ext cx="421957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b="1" i="0" u="none" strike="noStrike" cap="none" dirty="0">
                <a:solidFill>
                  <a:srgbClr val="334155"/>
                </a:solidFill>
                <a:latin typeface="DM Sans"/>
                <a:ea typeface="DM Sans"/>
                <a:cs typeface="DM Sans"/>
                <a:sym typeface="DM Sans"/>
              </a:rPr>
              <a:t>One main problem</a:t>
            </a:r>
            <a:endParaRPr sz="2000" dirty="0"/>
          </a:p>
        </p:txBody>
      </p:sp>
      <p:sp>
        <p:nvSpPr>
          <p:cNvPr id="479" name="Google Shape;479;p33"/>
          <p:cNvSpPr txBox="1"/>
          <p:nvPr/>
        </p:nvSpPr>
        <p:spPr>
          <a:xfrm>
            <a:off x="6953250" y="402812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80" name="Google Shape;480;p33"/>
          <p:cNvSpPr txBox="1"/>
          <p:nvPr/>
        </p:nvSpPr>
        <p:spPr>
          <a:xfrm>
            <a:off x="7120128" y="3861149"/>
            <a:ext cx="421957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b="1" i="0" u="none" strike="noStrike" cap="none">
                <a:solidFill>
                  <a:srgbClr val="334155"/>
                </a:solidFill>
                <a:latin typeface="DM Sans"/>
                <a:ea typeface="DM Sans"/>
                <a:cs typeface="DM Sans"/>
                <a:sym typeface="DM Sans"/>
              </a:rPr>
              <a:t>One legal tool</a:t>
            </a:r>
            <a:endParaRPr sz="2000"/>
          </a:p>
        </p:txBody>
      </p:sp>
      <p:sp>
        <p:nvSpPr>
          <p:cNvPr id="481" name="Google Shape;481;p33"/>
          <p:cNvSpPr txBox="1"/>
          <p:nvPr/>
        </p:nvSpPr>
        <p:spPr>
          <a:xfrm>
            <a:off x="6953250" y="441671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82" name="Google Shape;482;p33"/>
          <p:cNvSpPr txBox="1"/>
          <p:nvPr/>
        </p:nvSpPr>
        <p:spPr>
          <a:xfrm>
            <a:off x="7120128" y="4249739"/>
            <a:ext cx="421957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b="1" i="0" u="none" strike="noStrike" cap="none">
                <a:solidFill>
                  <a:srgbClr val="334155"/>
                </a:solidFill>
                <a:latin typeface="DM Sans"/>
                <a:ea typeface="DM Sans"/>
                <a:cs typeface="DM Sans"/>
                <a:sym typeface="DM Sans"/>
              </a:rPr>
              <a:t>One economic tool</a:t>
            </a:r>
            <a:endParaRPr sz="2000"/>
          </a:p>
        </p:txBody>
      </p:sp>
      <p:sp>
        <p:nvSpPr>
          <p:cNvPr id="483" name="Google Shape;483;p33"/>
          <p:cNvSpPr txBox="1"/>
          <p:nvPr/>
        </p:nvSpPr>
        <p:spPr>
          <a:xfrm>
            <a:off x="6953250" y="4805302"/>
            <a:ext cx="571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a:t>
            </a:r>
            <a:endParaRPr/>
          </a:p>
        </p:txBody>
      </p:sp>
      <p:sp>
        <p:nvSpPr>
          <p:cNvPr id="484" name="Google Shape;484;p33"/>
          <p:cNvSpPr txBox="1"/>
          <p:nvPr/>
        </p:nvSpPr>
        <p:spPr>
          <a:xfrm>
            <a:off x="7120128" y="4638329"/>
            <a:ext cx="4219575" cy="443198"/>
          </a:xfrm>
          <a:prstGeom prst="rect">
            <a:avLst/>
          </a:prstGeom>
          <a:noFill/>
          <a:ln>
            <a:noFill/>
          </a:ln>
        </p:spPr>
        <p:txBody>
          <a:bodyPr spcFirstLastPara="1" wrap="square" lIns="57150" tIns="0" rIns="0" bIns="0" anchor="t" anchorCtr="0">
            <a:spAutoFit/>
          </a:bodyPr>
          <a:lstStyle/>
          <a:p>
            <a:pPr marL="0" marR="0" lvl="0" indent="0" algn="l" rtl="0">
              <a:lnSpc>
                <a:spcPct val="160000"/>
              </a:lnSpc>
              <a:spcBef>
                <a:spcPts val="0"/>
              </a:spcBef>
              <a:spcAft>
                <a:spcPts val="0"/>
              </a:spcAft>
              <a:buNone/>
            </a:pPr>
            <a:r>
              <a:rPr lang="en-US" sz="1800" b="1" i="0" u="none" strike="noStrike" cap="none">
                <a:solidFill>
                  <a:srgbClr val="334155"/>
                </a:solidFill>
                <a:latin typeface="DM Sans"/>
                <a:ea typeface="DM Sans"/>
                <a:cs typeface="DM Sans"/>
                <a:sym typeface="DM Sans"/>
              </a:rPr>
              <a:t>One technological support tool</a:t>
            </a:r>
            <a:endParaRPr sz="2000"/>
          </a:p>
        </p:txBody>
      </p:sp>
      <p:sp>
        <p:nvSpPr>
          <p:cNvPr id="485" name="Google Shape;485;p33"/>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Integrated Tool Choice &amp; Challenge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9"/>
        <p:cNvGrpSpPr/>
        <p:nvPr/>
      </p:nvGrpSpPr>
      <p:grpSpPr>
        <a:xfrm>
          <a:off x="0" y="0"/>
          <a:ext cx="0" cy="0"/>
          <a:chOff x="0" y="0"/>
          <a:chExt cx="0" cy="0"/>
        </a:xfrm>
      </p:grpSpPr>
      <p:pic>
        <p:nvPicPr>
          <p:cNvPr id="490" name="Google Shape;490;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91" name="Google Shape;491;p34"/>
          <p:cNvSpPr/>
          <p:nvPr/>
        </p:nvSpPr>
        <p:spPr>
          <a:xfrm>
            <a:off x="571476" y="2110830"/>
            <a:ext cx="11049000" cy="2344935"/>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dirty="0">
              <a:solidFill>
                <a:schemeClr val="dk1"/>
              </a:solidFill>
              <a:latin typeface="Calibri"/>
              <a:ea typeface="Calibri"/>
              <a:cs typeface="Calibri"/>
              <a:sym typeface="Calibri"/>
            </a:endParaRPr>
          </a:p>
        </p:txBody>
      </p:sp>
      <p:graphicFrame>
        <p:nvGraphicFramePr>
          <p:cNvPr id="492" name="Google Shape;492;p34"/>
          <p:cNvGraphicFramePr/>
          <p:nvPr>
            <p:extLst>
              <p:ext uri="{D42A27DB-BD31-4B8C-83A1-F6EECF244321}">
                <p14:modId xmlns:p14="http://schemas.microsoft.com/office/powerpoint/2010/main" val="4132692502"/>
              </p:ext>
            </p:extLst>
          </p:nvPr>
        </p:nvGraphicFramePr>
        <p:xfrm>
          <a:off x="571524" y="2018026"/>
          <a:ext cx="11048975" cy="2384545"/>
        </p:xfrm>
        <a:graphic>
          <a:graphicData uri="http://schemas.openxmlformats.org/drawingml/2006/table">
            <a:tbl>
              <a:tblPr firstRow="1" bandRow="1">
                <a:noFill/>
                <a:tableStyleId>{82058365-0513-4D1D-80FB-C174D84907BA}</a:tableStyleId>
              </a:tblPr>
              <a:tblGrid>
                <a:gridCol w="2411450">
                  <a:extLst>
                    <a:ext uri="{9D8B030D-6E8A-4147-A177-3AD203B41FA5}">
                      <a16:colId xmlns:a16="http://schemas.microsoft.com/office/drawing/2014/main" val="20000"/>
                    </a:ext>
                  </a:extLst>
                </a:gridCol>
                <a:gridCol w="2482150">
                  <a:extLst>
                    <a:ext uri="{9D8B030D-6E8A-4147-A177-3AD203B41FA5}">
                      <a16:colId xmlns:a16="http://schemas.microsoft.com/office/drawing/2014/main" val="20001"/>
                    </a:ext>
                  </a:extLst>
                </a:gridCol>
                <a:gridCol w="3117800">
                  <a:extLst>
                    <a:ext uri="{9D8B030D-6E8A-4147-A177-3AD203B41FA5}">
                      <a16:colId xmlns:a16="http://schemas.microsoft.com/office/drawing/2014/main" val="20002"/>
                    </a:ext>
                  </a:extLst>
                </a:gridCol>
                <a:gridCol w="3037575">
                  <a:extLst>
                    <a:ext uri="{9D8B030D-6E8A-4147-A177-3AD203B41FA5}">
                      <a16:colId xmlns:a16="http://schemas.microsoft.com/office/drawing/2014/main" val="20003"/>
                    </a:ext>
                  </a:extLst>
                </a:gridCol>
              </a:tblGrid>
              <a:tr h="586225">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Scenario</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Legal Tool</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Economic Tool</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Technological Tool</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64E3B"/>
                    </a:solidFill>
                  </a:tcPr>
                </a:tc>
                <a:extLst>
                  <a:ext uri="{0D108BD9-81ED-4DB2-BD59-A6C34878D82A}">
                    <a16:rowId xmlns:a16="http://schemas.microsoft.com/office/drawing/2014/main" val="10000"/>
                  </a:ext>
                </a:extLst>
              </a:tr>
              <a:tr h="586225">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Factory wastewater</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Permit + strict standards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Discharge fee / heavy fine</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Treatment system + monitoring</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86225">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Rice straw burning</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Local no-burn regulation</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Support/subsidy for straw reuse</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Composting / biochar options</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86225">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Campus plastic waste</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Campus ban / regulation</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Deposit-return / vendor fee</a:t>
                      </a:r>
                      <a:endParaRPr sz="18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4155"/>
                          </a:solidFill>
                          <a:latin typeface="DM Sans"/>
                          <a:ea typeface="DM Sans"/>
                          <a:cs typeface="DM Sans"/>
                          <a:sym typeface="DM Sans"/>
                        </a:rPr>
                        <a:t>Sorting stations + tracking</a:t>
                      </a:r>
                      <a:endParaRPr sz="18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93" name="Google Shape;493;p34"/>
          <p:cNvSpPr/>
          <p:nvPr/>
        </p:nvSpPr>
        <p:spPr>
          <a:xfrm>
            <a:off x="571500" y="3269009"/>
            <a:ext cx="24114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4" name="Google Shape;494;p34"/>
          <p:cNvSpPr/>
          <p:nvPr/>
        </p:nvSpPr>
        <p:spPr>
          <a:xfrm>
            <a:off x="2982962" y="3269009"/>
            <a:ext cx="248215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5" name="Google Shape;495;p34"/>
          <p:cNvSpPr/>
          <p:nvPr/>
        </p:nvSpPr>
        <p:spPr>
          <a:xfrm>
            <a:off x="5465117" y="3269009"/>
            <a:ext cx="31178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6" name="Google Shape;496;p34"/>
          <p:cNvSpPr/>
          <p:nvPr/>
        </p:nvSpPr>
        <p:spPr>
          <a:xfrm>
            <a:off x="8582917" y="3269009"/>
            <a:ext cx="303758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7" name="Google Shape;497;p34"/>
          <p:cNvSpPr/>
          <p:nvPr/>
        </p:nvSpPr>
        <p:spPr>
          <a:xfrm>
            <a:off x="571500" y="3857625"/>
            <a:ext cx="24114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8" name="Google Shape;498;p34"/>
          <p:cNvSpPr/>
          <p:nvPr/>
        </p:nvSpPr>
        <p:spPr>
          <a:xfrm>
            <a:off x="2982962" y="3857625"/>
            <a:ext cx="248215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9" name="Google Shape;499;p34"/>
          <p:cNvSpPr/>
          <p:nvPr/>
        </p:nvSpPr>
        <p:spPr>
          <a:xfrm>
            <a:off x="5465117" y="3857625"/>
            <a:ext cx="31178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0" name="Google Shape;500;p34"/>
          <p:cNvSpPr/>
          <p:nvPr/>
        </p:nvSpPr>
        <p:spPr>
          <a:xfrm>
            <a:off x="8582917" y="3857625"/>
            <a:ext cx="303758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1" name="Google Shape;501;p34"/>
          <p:cNvSpPr/>
          <p:nvPr/>
        </p:nvSpPr>
        <p:spPr>
          <a:xfrm>
            <a:off x="571500" y="4446240"/>
            <a:ext cx="241146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2" name="Google Shape;502;p34"/>
          <p:cNvSpPr/>
          <p:nvPr/>
        </p:nvSpPr>
        <p:spPr>
          <a:xfrm>
            <a:off x="2982962" y="4446240"/>
            <a:ext cx="248215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3" name="Google Shape;503;p34"/>
          <p:cNvSpPr/>
          <p:nvPr/>
        </p:nvSpPr>
        <p:spPr>
          <a:xfrm>
            <a:off x="5465117" y="4446240"/>
            <a:ext cx="31178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4" name="Google Shape;504;p34"/>
          <p:cNvSpPr/>
          <p:nvPr/>
        </p:nvSpPr>
        <p:spPr>
          <a:xfrm>
            <a:off x="8582917" y="4446240"/>
            <a:ext cx="303758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5" name="Google Shape;505;p34"/>
          <p:cNvSpPr txBox="1"/>
          <p:nvPr/>
        </p:nvSpPr>
        <p:spPr>
          <a:xfrm>
            <a:off x="571500" y="571500"/>
            <a:ext cx="1160145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64E3B"/>
                </a:solidFill>
                <a:latin typeface="Merriweather"/>
                <a:ea typeface="Merriweather"/>
                <a:cs typeface="Merriweather"/>
                <a:sym typeface="Merriweather"/>
              </a:rPr>
              <a:t>Integrated Solutions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9"/>
        <p:cNvGrpSpPr/>
        <p:nvPr/>
      </p:nvGrpSpPr>
      <p:grpSpPr>
        <a:xfrm>
          <a:off x="0" y="0"/>
          <a:ext cx="0" cy="0"/>
          <a:chOff x="0" y="0"/>
          <a:chExt cx="0" cy="0"/>
        </a:xfrm>
      </p:grpSpPr>
      <p:pic>
        <p:nvPicPr>
          <p:cNvPr id="510" name="Google Shape;510;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11" name="Google Shape;511;p35" descr="image.png"/>
          <p:cNvPicPr preferRelativeResize="0"/>
          <p:nvPr/>
        </p:nvPicPr>
        <p:blipFill rotWithShape="1">
          <a:blip r:embed="rId4">
            <a:alphaModFix/>
          </a:blip>
          <a:srcRect/>
          <a:stretch/>
        </p:blipFill>
        <p:spPr>
          <a:xfrm>
            <a:off x="571500" y="2223194"/>
            <a:ext cx="2619375" cy="2493466"/>
          </a:xfrm>
          <a:prstGeom prst="rect">
            <a:avLst/>
          </a:prstGeom>
          <a:noFill/>
          <a:ln>
            <a:noFill/>
          </a:ln>
        </p:spPr>
      </p:pic>
      <p:pic>
        <p:nvPicPr>
          <p:cNvPr id="512" name="Google Shape;512;p35" descr="image.png"/>
          <p:cNvPicPr preferRelativeResize="0"/>
          <p:nvPr/>
        </p:nvPicPr>
        <p:blipFill rotWithShape="1">
          <a:blip r:embed="rId5">
            <a:alphaModFix/>
          </a:blip>
          <a:srcRect/>
          <a:stretch/>
        </p:blipFill>
        <p:spPr>
          <a:xfrm>
            <a:off x="3381375" y="2223194"/>
            <a:ext cx="2619375" cy="2493466"/>
          </a:xfrm>
          <a:prstGeom prst="rect">
            <a:avLst/>
          </a:prstGeom>
          <a:noFill/>
          <a:ln>
            <a:noFill/>
          </a:ln>
        </p:spPr>
      </p:pic>
      <p:pic>
        <p:nvPicPr>
          <p:cNvPr id="513" name="Google Shape;513;p35" descr="image.png"/>
          <p:cNvPicPr preferRelativeResize="0"/>
          <p:nvPr/>
        </p:nvPicPr>
        <p:blipFill rotWithShape="1">
          <a:blip r:embed="rId6">
            <a:alphaModFix/>
          </a:blip>
          <a:srcRect/>
          <a:stretch/>
        </p:blipFill>
        <p:spPr>
          <a:xfrm>
            <a:off x="6191250" y="2223194"/>
            <a:ext cx="2619375" cy="2493466"/>
          </a:xfrm>
          <a:prstGeom prst="rect">
            <a:avLst/>
          </a:prstGeom>
          <a:noFill/>
          <a:ln>
            <a:noFill/>
          </a:ln>
        </p:spPr>
      </p:pic>
      <p:pic>
        <p:nvPicPr>
          <p:cNvPr id="514" name="Google Shape;514;p35" descr="image.png"/>
          <p:cNvPicPr preferRelativeResize="0"/>
          <p:nvPr/>
        </p:nvPicPr>
        <p:blipFill rotWithShape="1">
          <a:blip r:embed="rId7">
            <a:alphaModFix/>
          </a:blip>
          <a:srcRect/>
          <a:stretch/>
        </p:blipFill>
        <p:spPr>
          <a:xfrm>
            <a:off x="9001125" y="2223194"/>
            <a:ext cx="2619375" cy="2493466"/>
          </a:xfrm>
          <a:prstGeom prst="rect">
            <a:avLst/>
          </a:prstGeom>
          <a:noFill/>
          <a:ln>
            <a:noFill/>
          </a:ln>
        </p:spPr>
      </p:pic>
      <p:sp>
        <p:nvSpPr>
          <p:cNvPr id="515" name="Google Shape;515;p35"/>
          <p:cNvSpPr txBox="1"/>
          <p:nvPr/>
        </p:nvSpPr>
        <p:spPr>
          <a:xfrm>
            <a:off x="571500" y="5002410"/>
            <a:ext cx="11049000" cy="492443"/>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2000" b="1" i="0" u="none" strike="noStrike" cap="none" dirty="0">
                <a:solidFill>
                  <a:srgbClr val="064E3B"/>
                </a:solidFill>
                <a:latin typeface="DM Sans"/>
                <a:ea typeface="DM Sans"/>
                <a:cs typeface="DM Sans"/>
                <a:sym typeface="DM Sans"/>
              </a:rPr>
              <a:t>Effective Environmental Management requires all four foundations.</a:t>
            </a:r>
            <a:endParaRPr sz="1600" dirty="0"/>
          </a:p>
        </p:txBody>
      </p:sp>
      <p:sp>
        <p:nvSpPr>
          <p:cNvPr id="516" name="Google Shape;516;p35"/>
          <p:cNvSpPr txBox="1"/>
          <p:nvPr/>
        </p:nvSpPr>
        <p:spPr>
          <a:xfrm>
            <a:off x="1370266" y="2602500"/>
            <a:ext cx="104013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Science</a:t>
            </a:r>
            <a:endParaRPr/>
          </a:p>
        </p:txBody>
      </p:sp>
      <p:sp>
        <p:nvSpPr>
          <p:cNvPr id="517" name="Google Shape;517;p35"/>
          <p:cNvSpPr txBox="1"/>
          <p:nvPr/>
        </p:nvSpPr>
        <p:spPr>
          <a:xfrm>
            <a:off x="875919" y="3088275"/>
            <a:ext cx="2028825"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334155"/>
                </a:solidFill>
                <a:latin typeface="DM Sans"/>
                <a:ea typeface="DM Sans"/>
                <a:cs typeface="DM Sans"/>
                <a:sym typeface="DM Sans"/>
              </a:rPr>
              <a:t>Gives evidence, thresholds, and deep ecosystem understanding.</a:t>
            </a:r>
            <a:endParaRPr sz="2000"/>
          </a:p>
        </p:txBody>
      </p:sp>
      <p:sp>
        <p:nvSpPr>
          <p:cNvPr id="518" name="Google Shape;518;p35"/>
          <p:cNvSpPr txBox="1"/>
          <p:nvPr/>
        </p:nvSpPr>
        <p:spPr>
          <a:xfrm>
            <a:off x="3875102" y="2602500"/>
            <a:ext cx="1650206"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Technology</a:t>
            </a:r>
            <a:endParaRPr/>
          </a:p>
        </p:txBody>
      </p:sp>
      <p:sp>
        <p:nvSpPr>
          <p:cNvPr id="519" name="Google Shape;519;p35"/>
          <p:cNvSpPr txBox="1"/>
          <p:nvPr/>
        </p:nvSpPr>
        <p:spPr>
          <a:xfrm>
            <a:off x="3685793" y="3088275"/>
            <a:ext cx="2028825" cy="138499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334155"/>
                </a:solidFill>
                <a:latin typeface="DM Sans"/>
                <a:ea typeface="DM Sans"/>
                <a:cs typeface="DM Sans"/>
                <a:sym typeface="DM Sans"/>
              </a:rPr>
              <a:t>Helps measure, monitor, and directly control environmental impacts.</a:t>
            </a:r>
            <a:endParaRPr sz="2000"/>
          </a:p>
        </p:txBody>
      </p:sp>
      <p:sp>
        <p:nvSpPr>
          <p:cNvPr id="520" name="Google Shape;520;p35"/>
          <p:cNvSpPr txBox="1"/>
          <p:nvPr/>
        </p:nvSpPr>
        <p:spPr>
          <a:xfrm>
            <a:off x="6754986" y="2602500"/>
            <a:ext cx="15101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47857"/>
                </a:solidFill>
                <a:latin typeface="Merriweather"/>
                <a:ea typeface="Merriweather"/>
                <a:cs typeface="Merriweather"/>
                <a:sym typeface="Merriweather"/>
              </a:rPr>
              <a:t>Economics</a:t>
            </a:r>
            <a:endParaRPr/>
          </a:p>
        </p:txBody>
      </p:sp>
      <p:sp>
        <p:nvSpPr>
          <p:cNvPr id="521" name="Google Shape;521;p35"/>
          <p:cNvSpPr txBox="1"/>
          <p:nvPr/>
        </p:nvSpPr>
        <p:spPr>
          <a:xfrm>
            <a:off x="6495668" y="3088275"/>
            <a:ext cx="2028825" cy="138499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334155"/>
                </a:solidFill>
                <a:latin typeface="DM Sans"/>
                <a:ea typeface="DM Sans"/>
                <a:cs typeface="DM Sans"/>
                <a:sym typeface="DM Sans"/>
              </a:rPr>
              <a:t>Changes incentives and internalizes environmental externalities.</a:t>
            </a:r>
            <a:endParaRPr sz="2000"/>
          </a:p>
        </p:txBody>
      </p:sp>
      <p:sp>
        <p:nvSpPr>
          <p:cNvPr id="522" name="Google Shape;522;p35"/>
          <p:cNvSpPr txBox="1"/>
          <p:nvPr/>
        </p:nvSpPr>
        <p:spPr>
          <a:xfrm>
            <a:off x="10024918" y="2602500"/>
            <a:ext cx="590073"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47857"/>
                </a:solidFill>
                <a:latin typeface="Merriweather"/>
                <a:ea typeface="Merriweather"/>
                <a:cs typeface="Merriweather"/>
                <a:sym typeface="Merriweather"/>
              </a:rPr>
              <a:t>Law</a:t>
            </a:r>
            <a:endParaRPr dirty="0"/>
          </a:p>
        </p:txBody>
      </p:sp>
      <p:sp>
        <p:nvSpPr>
          <p:cNvPr id="523" name="Google Shape;523;p35"/>
          <p:cNvSpPr txBox="1"/>
          <p:nvPr/>
        </p:nvSpPr>
        <p:spPr>
          <a:xfrm>
            <a:off x="9305543" y="3088275"/>
            <a:ext cx="2028825" cy="138499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334155"/>
                </a:solidFill>
                <a:latin typeface="DM Sans"/>
                <a:ea typeface="DM Sans"/>
                <a:cs typeface="DM Sans"/>
                <a:sym typeface="DM Sans"/>
              </a:rPr>
              <a:t>Creates binding obligations, clear standards, and strict accountability.</a:t>
            </a:r>
            <a:endParaRPr sz="2000"/>
          </a:p>
        </p:txBody>
      </p:sp>
      <p:pic>
        <p:nvPicPr>
          <p:cNvPr id="524" name="Google Shape;524;p35" descr="image.png"/>
          <p:cNvPicPr preferRelativeResize="0"/>
          <p:nvPr/>
        </p:nvPicPr>
        <p:blipFill rotWithShape="1">
          <a:blip r:embed="rId8">
            <a:alphaModFix/>
          </a:blip>
          <a:srcRect/>
          <a:stretch/>
        </p:blipFill>
        <p:spPr>
          <a:xfrm>
            <a:off x="1714499" y="1770757"/>
            <a:ext cx="333375" cy="381000"/>
          </a:xfrm>
          <a:prstGeom prst="rect">
            <a:avLst/>
          </a:prstGeom>
          <a:noFill/>
          <a:ln>
            <a:noFill/>
          </a:ln>
        </p:spPr>
      </p:pic>
      <p:pic>
        <p:nvPicPr>
          <p:cNvPr id="525" name="Google Shape;525;p35" descr="image.png"/>
          <p:cNvPicPr preferRelativeResize="0"/>
          <p:nvPr/>
        </p:nvPicPr>
        <p:blipFill rotWithShape="1">
          <a:blip r:embed="rId9">
            <a:alphaModFix/>
          </a:blip>
          <a:srcRect/>
          <a:stretch/>
        </p:blipFill>
        <p:spPr>
          <a:xfrm>
            <a:off x="4500562" y="1770757"/>
            <a:ext cx="381000" cy="381000"/>
          </a:xfrm>
          <a:prstGeom prst="rect">
            <a:avLst/>
          </a:prstGeom>
          <a:noFill/>
          <a:ln>
            <a:noFill/>
          </a:ln>
        </p:spPr>
      </p:pic>
      <p:pic>
        <p:nvPicPr>
          <p:cNvPr id="526" name="Google Shape;526;p35" descr="image.png"/>
          <p:cNvPicPr preferRelativeResize="0"/>
          <p:nvPr/>
        </p:nvPicPr>
        <p:blipFill rotWithShape="1">
          <a:blip r:embed="rId10">
            <a:alphaModFix/>
          </a:blip>
          <a:srcRect/>
          <a:stretch/>
        </p:blipFill>
        <p:spPr>
          <a:xfrm>
            <a:off x="7310437" y="1668626"/>
            <a:ext cx="381000" cy="381000"/>
          </a:xfrm>
          <a:prstGeom prst="rect">
            <a:avLst/>
          </a:prstGeom>
          <a:noFill/>
          <a:ln>
            <a:noFill/>
          </a:ln>
        </p:spPr>
      </p:pic>
      <p:pic>
        <p:nvPicPr>
          <p:cNvPr id="527" name="Google Shape;527;p35" descr="image.png"/>
          <p:cNvPicPr preferRelativeResize="0"/>
          <p:nvPr/>
        </p:nvPicPr>
        <p:blipFill rotWithShape="1">
          <a:blip r:embed="rId11">
            <a:alphaModFix/>
          </a:blip>
          <a:srcRect/>
          <a:stretch/>
        </p:blipFill>
        <p:spPr>
          <a:xfrm>
            <a:off x="10224848" y="1706345"/>
            <a:ext cx="381000" cy="381000"/>
          </a:xfrm>
          <a:prstGeom prst="rect">
            <a:avLst/>
          </a:prstGeom>
          <a:noFill/>
          <a:ln>
            <a:noFill/>
          </a:ln>
        </p:spPr>
      </p:pic>
      <p:sp>
        <p:nvSpPr>
          <p:cNvPr id="528" name="Google Shape;528;p35"/>
          <p:cNvSpPr txBox="1"/>
          <p:nvPr/>
        </p:nvSpPr>
        <p:spPr>
          <a:xfrm>
            <a:off x="571500" y="571500"/>
            <a:ext cx="116016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64E3B"/>
                </a:solidFill>
                <a:latin typeface="Merriweather"/>
                <a:ea typeface="Merriweather"/>
                <a:cs typeface="Merriweather"/>
                <a:sym typeface="Merriweather"/>
              </a:rPr>
              <a:t>Summary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2"/>
        <p:cNvGrpSpPr/>
        <p:nvPr/>
      </p:nvGrpSpPr>
      <p:grpSpPr>
        <a:xfrm>
          <a:off x="0" y="0"/>
          <a:ext cx="0" cy="0"/>
          <a:chOff x="0" y="0"/>
          <a:chExt cx="0" cy="0"/>
        </a:xfrm>
      </p:grpSpPr>
      <p:pic>
        <p:nvPicPr>
          <p:cNvPr id="533" name="Google Shape;533;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34" name="Google Shape;534;p36" descr="image.png"/>
          <p:cNvPicPr preferRelativeResize="0"/>
          <p:nvPr/>
        </p:nvPicPr>
        <p:blipFill rotWithShape="1">
          <a:blip r:embed="rId4">
            <a:alphaModFix/>
          </a:blip>
          <a:srcRect/>
          <a:stretch/>
        </p:blipFill>
        <p:spPr>
          <a:xfrm>
            <a:off x="2286000" y="1930120"/>
            <a:ext cx="7620000" cy="2691705"/>
          </a:xfrm>
          <a:prstGeom prst="rect">
            <a:avLst/>
          </a:prstGeom>
          <a:noFill/>
          <a:ln>
            <a:noFill/>
          </a:ln>
        </p:spPr>
      </p:pic>
      <p:sp>
        <p:nvSpPr>
          <p:cNvPr id="535" name="Google Shape;535;p36"/>
          <p:cNvSpPr txBox="1"/>
          <p:nvPr/>
        </p:nvSpPr>
        <p:spPr>
          <a:xfrm>
            <a:off x="2374413" y="3002920"/>
            <a:ext cx="7380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a:solidFill>
                  <a:srgbClr val="064E3B"/>
                </a:solidFill>
                <a:latin typeface="Merriweather"/>
                <a:ea typeface="Merriweather"/>
                <a:cs typeface="Merriweather"/>
                <a:sym typeface="Merriweather"/>
              </a:rPr>
              <a:t>QUIZ</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9"/>
        <p:cNvGrpSpPr/>
        <p:nvPr/>
      </p:nvGrpSpPr>
      <p:grpSpPr>
        <a:xfrm>
          <a:off x="0" y="0"/>
          <a:ext cx="0" cy="0"/>
          <a:chOff x="0" y="0"/>
          <a:chExt cx="0" cy="0"/>
        </a:xfrm>
      </p:grpSpPr>
      <p:pic>
        <p:nvPicPr>
          <p:cNvPr id="540" name="Google Shape;540;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41" name="Google Shape;541;p37" descr="image.png"/>
          <p:cNvPicPr preferRelativeResize="0"/>
          <p:nvPr/>
        </p:nvPicPr>
        <p:blipFill rotWithShape="1">
          <a:blip r:embed="rId4">
            <a:alphaModFix/>
          </a:blip>
          <a:srcRect/>
          <a:stretch/>
        </p:blipFill>
        <p:spPr>
          <a:xfrm>
            <a:off x="2286000" y="2956470"/>
            <a:ext cx="7620000" cy="2691705"/>
          </a:xfrm>
          <a:prstGeom prst="rect">
            <a:avLst/>
          </a:prstGeom>
          <a:noFill/>
          <a:ln>
            <a:noFill/>
          </a:ln>
        </p:spPr>
      </p:pic>
      <p:sp>
        <p:nvSpPr>
          <p:cNvPr id="542" name="Google Shape;542;p37"/>
          <p:cNvSpPr txBox="1"/>
          <p:nvPr/>
        </p:nvSpPr>
        <p:spPr>
          <a:xfrm>
            <a:off x="2095500" y="1209675"/>
            <a:ext cx="8001000" cy="762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064E3B"/>
                </a:solidFill>
                <a:latin typeface="Merriweather"/>
                <a:ea typeface="Merriweather"/>
                <a:cs typeface="Merriweather"/>
                <a:sym typeface="Merriweather"/>
              </a:rPr>
              <a:t>Assessment &amp; Wrap-up</a:t>
            </a:r>
            <a:endParaRPr/>
          </a:p>
        </p:txBody>
      </p:sp>
      <p:sp>
        <p:nvSpPr>
          <p:cNvPr id="544" name="Google Shape;544;p37"/>
          <p:cNvSpPr txBox="1"/>
          <p:nvPr/>
        </p:nvSpPr>
        <p:spPr>
          <a:xfrm>
            <a:off x="2405538" y="3251745"/>
            <a:ext cx="7380922"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64E3B"/>
                </a:solidFill>
                <a:latin typeface="Merriweather"/>
                <a:ea typeface="Merriweather"/>
                <a:cs typeface="Merriweather"/>
                <a:sym typeface="Merriweather"/>
              </a:rPr>
              <a:t>Final Short Assessment</a:t>
            </a:r>
            <a:endParaRPr/>
          </a:p>
        </p:txBody>
      </p:sp>
      <p:sp>
        <p:nvSpPr>
          <p:cNvPr id="545" name="Google Shape;545;p37"/>
          <p:cNvSpPr txBox="1"/>
          <p:nvPr/>
        </p:nvSpPr>
        <p:spPr>
          <a:xfrm>
            <a:off x="2581275" y="3737520"/>
            <a:ext cx="7029450" cy="61555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0" i="1" u="none" strike="noStrike" cap="none" dirty="0">
                <a:solidFill>
                  <a:srgbClr val="334155"/>
                </a:solidFill>
                <a:latin typeface="DM Sans Medium"/>
                <a:ea typeface="DM Sans Medium"/>
                <a:cs typeface="DM Sans Medium"/>
                <a:sym typeface="DM Sans Medium"/>
              </a:rPr>
              <a:t>Why can environmental management not rely on only one type of foundation?</a:t>
            </a:r>
            <a:endParaRPr sz="2000" dirty="0"/>
          </a:p>
        </p:txBody>
      </p:sp>
      <p:sp>
        <p:nvSpPr>
          <p:cNvPr id="546" name="Google Shape;546;p37"/>
          <p:cNvSpPr txBox="1"/>
          <p:nvPr/>
        </p:nvSpPr>
        <p:spPr>
          <a:xfrm>
            <a:off x="2581275" y="4728120"/>
            <a:ext cx="7029450"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64748B"/>
                </a:solidFill>
                <a:latin typeface="DM Sans"/>
                <a:ea typeface="DM Sans"/>
                <a:cs typeface="DM Sans"/>
                <a:sym typeface="DM Sans"/>
              </a:rPr>
              <a:t>(Please answer in 3–4 lines on your exit slip)</a:t>
            </a:r>
            <a:endParaRPr sz="20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4109</Words>
  <Application>Microsoft Office PowerPoint</Application>
  <PresentationFormat>Widescreen</PresentationFormat>
  <Paragraphs>263</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DM Sans</vt:lpstr>
      <vt:lpstr>Calibri</vt:lpstr>
      <vt:lpstr>Arial</vt:lpstr>
      <vt:lpstr>Merriweather</vt:lpstr>
      <vt:lpstr>DM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Administrator</cp:lastModifiedBy>
  <cp:revision>7</cp:revision>
  <dcterms:modified xsi:type="dcterms:W3CDTF">2026-04-09T17:11:11Z</dcterms:modified>
</cp:coreProperties>
</file>